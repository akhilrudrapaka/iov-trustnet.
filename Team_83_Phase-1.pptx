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77" r:id="rId10"/>
    <p:sldId id="264" r:id="rId11"/>
    <p:sldId id="265" r:id="rId12"/>
    <p:sldId id="266" r:id="rId13"/>
    <p:sldId id="267" r:id="rId14"/>
    <p:sldId id="268" r:id="rId15"/>
    <p:sldId id="281" r:id="rId16"/>
    <p:sldId id="275" r:id="rId17"/>
    <p:sldId id="271" r:id="rId18"/>
    <p:sldId id="278" r:id="rId19"/>
    <p:sldId id="274" r:id="rId20"/>
    <p:sldId id="272" r:id="rId21"/>
    <p:sldId id="27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548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43AB7-FBF8-4F4A-85B2-153453286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3C32D-2DED-5A08-057D-F3F4A4353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79495-723F-0FC0-0102-D902475299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CB51F8-A37B-0003-BE1E-C50C02E7A17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755852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1179260" y="1363402"/>
            <a:ext cx="6747641" cy="1152776"/>
          </a:xfrm>
          <a:prstGeom prst="rect">
            <a:avLst/>
          </a:prstGeom>
          <a:solidFill>
            <a:srgbClr val="EAD8E0"/>
          </a:solidFill>
          <a:ln w="25400">
            <a:solidFill>
              <a:srgbClr val="7A1538"/>
            </a:solidFill>
            <a:prstDash val="solid"/>
          </a:ln>
        </p:spPr>
      </p:sp>
      <p:sp>
        <p:nvSpPr>
          <p:cNvPr id="6" name="Text 4"/>
          <p:cNvSpPr/>
          <p:nvPr/>
        </p:nvSpPr>
        <p:spPr>
          <a:xfrm>
            <a:off x="1179260" y="1363402"/>
            <a:ext cx="6747641" cy="1152776"/>
          </a:xfrm>
          <a:prstGeom prst="rect">
            <a:avLst/>
          </a:prstGeom>
          <a:noFill/>
          <a:ln/>
        </p:spPr>
        <p:txBody>
          <a:bodyPr wrap="square" rtlCol="0" anchor="ctr"/>
          <a:lstStyle/>
          <a:p>
            <a:pPr marL="0" indent="0" algn="ctr">
              <a:buNone/>
            </a:pPr>
            <a:r>
              <a:rPr lang="en-US" sz="2000" b="1" dirty="0">
                <a:solidFill>
                  <a:srgbClr val="7A1538"/>
                </a:solidFill>
                <a:latin typeface="Calibri" pitchFamily="34" charset="0"/>
                <a:ea typeface="Calibri" pitchFamily="34" charset="-122"/>
                <a:cs typeface="Calibri" pitchFamily="34" charset="-120"/>
              </a:rPr>
              <a:t>Mitigation of Broadcast Storm Problem for Reliable Emergency Dissemination in IoV using Trust-Aware Clustering and Batch Authentication</a:t>
            </a:r>
            <a:endParaRPr lang="en-US" sz="2000" dirty="0"/>
          </a:p>
        </p:txBody>
      </p:sp>
      <p:sp>
        <p:nvSpPr>
          <p:cNvPr id="7" name="Text 5"/>
          <p:cNvSpPr/>
          <p:nvPr/>
        </p:nvSpPr>
        <p:spPr>
          <a:xfrm>
            <a:off x="2391629" y="2784978"/>
            <a:ext cx="4212546" cy="320040"/>
          </a:xfrm>
          <a:prstGeom prst="rect">
            <a:avLst/>
          </a:prstGeom>
          <a:noFill/>
          <a:ln/>
        </p:spPr>
        <p:txBody>
          <a:bodyPr wrap="square" rtlCol="0" anchor="ctr"/>
          <a:lstStyle/>
          <a:p>
            <a:pPr marL="0" indent="0" algn="ctr">
              <a:buNone/>
            </a:pPr>
            <a:r>
              <a:rPr lang="en-US" sz="1400" dirty="0">
                <a:solidFill>
                  <a:srgbClr val="333333"/>
                </a:solidFill>
                <a:latin typeface="Calibri" pitchFamily="34" charset="0"/>
                <a:ea typeface="Calibri" pitchFamily="34" charset="-122"/>
                <a:cs typeface="Calibri" pitchFamily="34" charset="-120"/>
              </a:rPr>
              <a:t>Project – Phase 1</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619001508"/>
              </p:ext>
            </p:extLst>
          </p:nvPr>
        </p:nvGraphicFramePr>
        <p:xfrm>
          <a:off x="2099967" y="3105018"/>
          <a:ext cx="5120640" cy="1554480"/>
        </p:xfrm>
        <a:graphic>
          <a:graphicData uri="http://schemas.openxmlformats.org/drawingml/2006/table">
            <a:tbl>
              <a:tblPr/>
              <a:tblGrid>
                <a:gridCol w="548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S.No</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7A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Register Number</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7A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Student Name</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0">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CB.SC.U4CSE23650</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R Akhil</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CB.SC.U4CSE23620</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G Nikshith</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CB.SC.U4CSE23332</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K Charan</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CB.SC.U4CSE23625</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K Chakri</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CB.SC.U4CSE23640</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P Sreeshanth</a:t>
                      </a:r>
                      <a:endParaRPr lang="en-US" sz="1100" dirty="0">
                        <a:latin typeface="Calibri" charset="0"/>
                        <a:ea typeface="Calibri" charset="0"/>
                        <a:cs typeface="Calibri" charset="0"/>
                      </a:endParaRPr>
                    </a:p>
                  </a:txBody>
                  <a:tcP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2945477" y="2543295"/>
            <a:ext cx="3104850" cy="256032"/>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Guide: Radhika G</a:t>
            </a:r>
            <a:endParaRPr lang="en-US" sz="1200" dirty="0"/>
          </a:p>
        </p:txBody>
      </p:sp>
      <p:sp>
        <p:nvSpPr>
          <p:cNvPr id="10" name="Shape 7"/>
          <p:cNvSpPr/>
          <p:nvPr/>
        </p:nvSpPr>
        <p:spPr>
          <a:xfrm>
            <a:off x="0" y="4937760"/>
            <a:ext cx="9144000" cy="201168"/>
          </a:xfrm>
          <a:prstGeom prst="rect">
            <a:avLst/>
          </a:prstGeom>
          <a:solidFill>
            <a:srgbClr val="7A1538"/>
          </a:solidFill>
          <a:ln w="12700">
            <a:solidFill>
              <a:srgbClr val="7A1538"/>
            </a:solidFill>
            <a:prstDash val="solid"/>
          </a:ln>
        </p:spPr>
      </p:sp>
      <p:sp>
        <p:nvSpPr>
          <p:cNvPr id="11" name="Text 8"/>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 / 22</a:t>
            </a:r>
            <a:endParaRPr lang="en-US" sz="900" dirty="0"/>
          </a:p>
        </p:txBody>
      </p:sp>
      <p:pic>
        <p:nvPicPr>
          <p:cNvPr id="13" name="Picture 12">
            <a:extLst>
              <a:ext uri="{FF2B5EF4-FFF2-40B4-BE49-F238E27FC236}">
                <a16:creationId xmlns:a16="http://schemas.microsoft.com/office/drawing/2014/main" id="{4749BE90-E172-5E0D-C603-C7C6F886619E}"/>
              </a:ext>
            </a:extLst>
          </p:cNvPr>
          <p:cNvPicPr>
            <a:picLocks noChangeAspect="1"/>
          </p:cNvPicPr>
          <p:nvPr/>
        </p:nvPicPr>
        <p:blipFill>
          <a:blip r:embed="rId3"/>
          <a:stretch>
            <a:fillRect/>
          </a:stretch>
        </p:blipFill>
        <p:spPr>
          <a:xfrm>
            <a:off x="3415768" y="147484"/>
            <a:ext cx="2164268" cy="632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Introduction</a:t>
            </a:r>
            <a:endParaRPr lang="en-US" sz="2400" dirty="0"/>
          </a:p>
        </p:txBody>
      </p:sp>
      <p:sp>
        <p:nvSpPr>
          <p:cNvPr id="4" name="Shape 2"/>
          <p:cNvSpPr/>
          <p:nvPr/>
        </p:nvSpPr>
        <p:spPr>
          <a:xfrm>
            <a:off x="365760" y="868680"/>
            <a:ext cx="8412480" cy="914400"/>
          </a:xfrm>
          <a:prstGeom prst="rect">
            <a:avLst/>
          </a:prstGeom>
          <a:solidFill>
            <a:srgbClr val="F5F5F5"/>
          </a:solidFill>
          <a:ln w="12700">
            <a:solidFill>
              <a:srgbClr val="DDDDDD"/>
            </a:solidFill>
            <a:prstDash val="solid"/>
          </a:ln>
        </p:spPr>
      </p:sp>
      <p:sp>
        <p:nvSpPr>
          <p:cNvPr id="5" name="Shape 3"/>
          <p:cNvSpPr/>
          <p:nvPr/>
        </p:nvSpPr>
        <p:spPr>
          <a:xfrm>
            <a:off x="365760" y="868680"/>
            <a:ext cx="73152" cy="914400"/>
          </a:xfrm>
          <a:prstGeom prst="rect">
            <a:avLst/>
          </a:prstGeom>
          <a:solidFill>
            <a:srgbClr val="7A1538"/>
          </a:solidFill>
          <a:ln w="12700">
            <a:solidFill>
              <a:srgbClr val="7A1538"/>
            </a:solidFill>
            <a:prstDash val="solid"/>
          </a:ln>
        </p:spPr>
      </p:sp>
      <p:pic>
        <p:nvPicPr>
          <p:cNvPr id="6" name="Image 0" descr="preencoded.png"/>
          <p:cNvPicPr>
            <a:picLocks noChangeAspect="1"/>
          </p:cNvPicPr>
          <p:nvPr/>
        </p:nvPicPr>
        <p:blipFill>
          <a:blip r:embed="rId3"/>
          <a:stretch>
            <a:fillRect/>
          </a:stretch>
        </p:blipFill>
        <p:spPr>
          <a:xfrm>
            <a:off x="502920" y="1097280"/>
            <a:ext cx="411480" cy="411480"/>
          </a:xfrm>
          <a:prstGeom prst="rect">
            <a:avLst/>
          </a:prstGeom>
        </p:spPr>
      </p:pic>
      <p:sp>
        <p:nvSpPr>
          <p:cNvPr id="7" name="Text 4"/>
          <p:cNvSpPr/>
          <p:nvPr/>
        </p:nvSpPr>
        <p:spPr>
          <a:xfrm>
            <a:off x="1005840" y="941832"/>
            <a:ext cx="7589520" cy="77724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The Network: </a:t>
            </a:r>
            <a:r>
              <a:rPr lang="en-US" sz="1300" dirty="0">
                <a:solidFill>
                  <a:srgbClr val="333333"/>
                </a:solidFill>
                <a:latin typeface="Calibri" pitchFamily="34" charset="0"/>
                <a:ea typeface="Calibri" pitchFamily="34" charset="-122"/>
                <a:cs typeface="Calibri" pitchFamily="34" charset="-120"/>
              </a:rPr>
              <a:t>Internet of Vehicles (IoV) is a fusion of VANETs and IoT, enabling real-time communication between vehicles for safety and traffic management.</a:t>
            </a:r>
            <a:endParaRPr lang="en-US" sz="1300" dirty="0"/>
          </a:p>
        </p:txBody>
      </p:sp>
      <p:sp>
        <p:nvSpPr>
          <p:cNvPr id="8" name="Shape 5"/>
          <p:cNvSpPr/>
          <p:nvPr/>
        </p:nvSpPr>
        <p:spPr>
          <a:xfrm>
            <a:off x="365760" y="1892808"/>
            <a:ext cx="8412480" cy="914400"/>
          </a:xfrm>
          <a:prstGeom prst="rect">
            <a:avLst/>
          </a:prstGeom>
          <a:solidFill>
            <a:srgbClr val="F5F5F5"/>
          </a:solidFill>
          <a:ln w="12700">
            <a:solidFill>
              <a:srgbClr val="DDDDDD"/>
            </a:solidFill>
            <a:prstDash val="solid"/>
          </a:ln>
        </p:spPr>
      </p:sp>
      <p:sp>
        <p:nvSpPr>
          <p:cNvPr id="9" name="Shape 6"/>
          <p:cNvSpPr/>
          <p:nvPr/>
        </p:nvSpPr>
        <p:spPr>
          <a:xfrm>
            <a:off x="365760" y="1892808"/>
            <a:ext cx="73152" cy="914400"/>
          </a:xfrm>
          <a:prstGeom prst="rect">
            <a:avLst/>
          </a:prstGeom>
          <a:solidFill>
            <a:srgbClr val="7A1538"/>
          </a:solidFill>
          <a:ln w="12700">
            <a:solidFill>
              <a:srgbClr val="7A1538"/>
            </a:solidFill>
            <a:prstDash val="solid"/>
          </a:ln>
        </p:spPr>
      </p:sp>
      <p:pic>
        <p:nvPicPr>
          <p:cNvPr id="10" name="Image 1" descr="preencoded.png"/>
          <p:cNvPicPr>
            <a:picLocks noChangeAspect="1"/>
          </p:cNvPicPr>
          <p:nvPr/>
        </p:nvPicPr>
        <p:blipFill>
          <a:blip r:embed="rId4"/>
          <a:stretch>
            <a:fillRect/>
          </a:stretch>
        </p:blipFill>
        <p:spPr>
          <a:xfrm>
            <a:off x="502920" y="2121408"/>
            <a:ext cx="411480" cy="411480"/>
          </a:xfrm>
          <a:prstGeom prst="rect">
            <a:avLst/>
          </a:prstGeom>
        </p:spPr>
      </p:pic>
      <p:sp>
        <p:nvSpPr>
          <p:cNvPr id="11" name="Text 7"/>
          <p:cNvSpPr/>
          <p:nvPr/>
        </p:nvSpPr>
        <p:spPr>
          <a:xfrm>
            <a:off x="1005840" y="1965960"/>
            <a:ext cx="7589520" cy="77724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The Problem: </a:t>
            </a:r>
            <a:r>
              <a:rPr lang="en-US" sz="1300" dirty="0">
                <a:solidFill>
                  <a:srgbClr val="333333"/>
                </a:solidFill>
                <a:latin typeface="Calibri" pitchFamily="34" charset="0"/>
                <a:ea typeface="Calibri" pitchFamily="34" charset="-122"/>
                <a:cs typeface="Calibri" pitchFamily="34" charset="-120"/>
              </a:rPr>
              <a:t>When accidents occur, multiple vehicles simultaneously rebroadcast alerts, causing the broadcast storm problem — channel congestion, packet collisions, and increased delay.</a:t>
            </a:r>
            <a:endParaRPr lang="en-US" sz="1300" dirty="0"/>
          </a:p>
        </p:txBody>
      </p:sp>
      <p:sp>
        <p:nvSpPr>
          <p:cNvPr id="12" name="Shape 8"/>
          <p:cNvSpPr/>
          <p:nvPr/>
        </p:nvSpPr>
        <p:spPr>
          <a:xfrm>
            <a:off x="365760" y="2916936"/>
            <a:ext cx="8412480" cy="914400"/>
          </a:xfrm>
          <a:prstGeom prst="rect">
            <a:avLst/>
          </a:prstGeom>
          <a:solidFill>
            <a:srgbClr val="F5F5F5"/>
          </a:solidFill>
          <a:ln w="12700">
            <a:solidFill>
              <a:srgbClr val="DDDDDD"/>
            </a:solidFill>
            <a:prstDash val="solid"/>
          </a:ln>
        </p:spPr>
      </p:sp>
      <p:sp>
        <p:nvSpPr>
          <p:cNvPr id="13" name="Shape 9"/>
          <p:cNvSpPr/>
          <p:nvPr/>
        </p:nvSpPr>
        <p:spPr>
          <a:xfrm>
            <a:off x="365760" y="2916936"/>
            <a:ext cx="73152" cy="914400"/>
          </a:xfrm>
          <a:prstGeom prst="rect">
            <a:avLst/>
          </a:prstGeom>
          <a:solidFill>
            <a:srgbClr val="7A1538"/>
          </a:solidFill>
          <a:ln w="12700">
            <a:solidFill>
              <a:srgbClr val="7A1538"/>
            </a:solidFill>
            <a:prstDash val="solid"/>
          </a:ln>
        </p:spPr>
      </p:sp>
      <p:pic>
        <p:nvPicPr>
          <p:cNvPr id="14" name="Image 2" descr="preencoded.png"/>
          <p:cNvPicPr>
            <a:picLocks noChangeAspect="1"/>
          </p:cNvPicPr>
          <p:nvPr/>
        </p:nvPicPr>
        <p:blipFill>
          <a:blip r:embed="rId5"/>
          <a:stretch>
            <a:fillRect/>
          </a:stretch>
        </p:blipFill>
        <p:spPr>
          <a:xfrm>
            <a:off x="502920" y="3145536"/>
            <a:ext cx="411480" cy="411480"/>
          </a:xfrm>
          <a:prstGeom prst="rect">
            <a:avLst/>
          </a:prstGeom>
        </p:spPr>
      </p:pic>
      <p:sp>
        <p:nvSpPr>
          <p:cNvPr id="15" name="Text 10"/>
          <p:cNvSpPr/>
          <p:nvPr/>
        </p:nvSpPr>
        <p:spPr>
          <a:xfrm>
            <a:off x="1005840" y="2990088"/>
            <a:ext cx="7589520" cy="77724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The Challenge: </a:t>
            </a:r>
            <a:r>
              <a:rPr lang="en-US" sz="1300" dirty="0">
                <a:solidFill>
                  <a:srgbClr val="333333"/>
                </a:solidFill>
                <a:latin typeface="Calibri" pitchFamily="34" charset="0"/>
                <a:ea typeface="Calibri" pitchFamily="34" charset="-122"/>
                <a:cs typeface="Calibri" pitchFamily="34" charset="-120"/>
              </a:rPr>
              <a:t>Existing systems lack effective control over redundant broadcasts while ensuring only trustworthy, authenticated messages propagate across the network.</a:t>
            </a:r>
            <a:endParaRPr lang="en-US" sz="1300" dirty="0"/>
          </a:p>
        </p:txBody>
      </p:sp>
      <p:sp>
        <p:nvSpPr>
          <p:cNvPr id="16" name="Shape 11"/>
          <p:cNvSpPr/>
          <p:nvPr/>
        </p:nvSpPr>
        <p:spPr>
          <a:xfrm>
            <a:off x="365760" y="3941064"/>
            <a:ext cx="8412480" cy="914400"/>
          </a:xfrm>
          <a:prstGeom prst="rect">
            <a:avLst/>
          </a:prstGeom>
          <a:solidFill>
            <a:srgbClr val="F5F5F5"/>
          </a:solidFill>
          <a:ln w="12700">
            <a:solidFill>
              <a:srgbClr val="DDDDDD"/>
            </a:solidFill>
            <a:prstDash val="solid"/>
          </a:ln>
        </p:spPr>
      </p:sp>
      <p:sp>
        <p:nvSpPr>
          <p:cNvPr id="17" name="Shape 12"/>
          <p:cNvSpPr/>
          <p:nvPr/>
        </p:nvSpPr>
        <p:spPr>
          <a:xfrm>
            <a:off x="365760" y="3941064"/>
            <a:ext cx="73152" cy="914400"/>
          </a:xfrm>
          <a:prstGeom prst="rect">
            <a:avLst/>
          </a:prstGeom>
          <a:solidFill>
            <a:srgbClr val="7A1538"/>
          </a:solidFill>
          <a:ln w="12700">
            <a:solidFill>
              <a:srgbClr val="7A1538"/>
            </a:solidFill>
            <a:prstDash val="solid"/>
          </a:ln>
        </p:spPr>
      </p:sp>
      <p:pic>
        <p:nvPicPr>
          <p:cNvPr id="18" name="Image 3" descr="preencoded.png"/>
          <p:cNvPicPr>
            <a:picLocks noChangeAspect="1"/>
          </p:cNvPicPr>
          <p:nvPr/>
        </p:nvPicPr>
        <p:blipFill>
          <a:blip r:embed="rId6"/>
          <a:stretch>
            <a:fillRect/>
          </a:stretch>
        </p:blipFill>
        <p:spPr>
          <a:xfrm>
            <a:off x="502920" y="4169664"/>
            <a:ext cx="411480" cy="411480"/>
          </a:xfrm>
          <a:prstGeom prst="rect">
            <a:avLst/>
          </a:prstGeom>
        </p:spPr>
      </p:pic>
      <p:sp>
        <p:nvSpPr>
          <p:cNvPr id="19" name="Text 13"/>
          <p:cNvSpPr/>
          <p:nvPr/>
        </p:nvSpPr>
        <p:spPr>
          <a:xfrm>
            <a:off x="1005840" y="4014216"/>
            <a:ext cx="7589520" cy="77724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The Goal: </a:t>
            </a:r>
            <a:r>
              <a:rPr lang="en-US" sz="1300" dirty="0">
                <a:solidFill>
                  <a:srgbClr val="333333"/>
                </a:solidFill>
                <a:latin typeface="Calibri" pitchFamily="34" charset="0"/>
                <a:ea typeface="Calibri" pitchFamily="34" charset="-122"/>
                <a:cs typeface="Calibri" pitchFamily="34" charset="-120"/>
              </a:rPr>
              <a:t>A trust-aware clustering approach with batch authentication at the RSU level to enable reliable, low-latency emergency message dissemination.</a:t>
            </a:r>
            <a:endParaRPr lang="en-US" sz="1300" dirty="0"/>
          </a:p>
        </p:txBody>
      </p:sp>
      <p:sp>
        <p:nvSpPr>
          <p:cNvPr id="20" name="Shape 14"/>
          <p:cNvSpPr/>
          <p:nvPr/>
        </p:nvSpPr>
        <p:spPr>
          <a:xfrm>
            <a:off x="0" y="4937760"/>
            <a:ext cx="9144000" cy="201168"/>
          </a:xfrm>
          <a:prstGeom prst="rect">
            <a:avLst/>
          </a:prstGeom>
          <a:solidFill>
            <a:srgbClr val="7A1538"/>
          </a:solidFill>
          <a:ln w="12700">
            <a:solidFill>
              <a:srgbClr val="7A1538"/>
            </a:solidFill>
            <a:prstDash val="solid"/>
          </a:ln>
        </p:spPr>
      </p:sp>
      <p:sp>
        <p:nvSpPr>
          <p:cNvPr id="21" name="Text 15"/>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is the Broadcast Storm a Critical Problem?</a:t>
            </a:r>
            <a:endParaRPr lang="en-US" sz="2200" dirty="0"/>
          </a:p>
        </p:txBody>
      </p:sp>
      <p:sp>
        <p:nvSpPr>
          <p:cNvPr id="4" name="Text 2"/>
          <p:cNvSpPr/>
          <p:nvPr/>
        </p:nvSpPr>
        <p:spPr>
          <a:xfrm>
            <a:off x="274320" y="713232"/>
            <a:ext cx="8686800" cy="274320"/>
          </a:xfrm>
          <a:prstGeom prst="rect">
            <a:avLst/>
          </a:prstGeom>
          <a:noFill/>
          <a:ln/>
        </p:spPr>
        <p:txBody>
          <a:bodyPr wrap="square" rtlCol="0" anchor="ctr"/>
          <a:lstStyle/>
          <a:p>
            <a:pPr marL="0" indent="0">
              <a:buNone/>
            </a:pPr>
            <a:r>
              <a:rPr lang="en-US" sz="1200" i="1" dirty="0">
                <a:solidFill>
                  <a:srgbClr val="7A1538"/>
                </a:solidFill>
                <a:latin typeface="Calibri" pitchFamily="34" charset="0"/>
                <a:ea typeface="Calibri" pitchFamily="34" charset="-122"/>
                <a:cs typeface="Calibri" pitchFamily="34" charset="-120"/>
              </a:rPr>
              <a:t>Moving from Blind Flooding to Intelligent Dissemination</a:t>
            </a:r>
            <a:endParaRPr lang="en-US" sz="1200" dirty="0"/>
          </a:p>
        </p:txBody>
      </p:sp>
      <p:sp>
        <p:nvSpPr>
          <p:cNvPr id="5" name="Shape 3"/>
          <p:cNvSpPr/>
          <p:nvPr/>
        </p:nvSpPr>
        <p:spPr>
          <a:xfrm>
            <a:off x="365760" y="1005840"/>
            <a:ext cx="8412480" cy="731520"/>
          </a:xfrm>
          <a:prstGeom prst="rect">
            <a:avLst/>
          </a:prstGeom>
          <a:solidFill>
            <a:srgbClr val="EAD8E0"/>
          </a:solidFill>
          <a:ln w="12700">
            <a:solidFill>
              <a:srgbClr val="7A1538"/>
            </a:solidFill>
            <a:prstDash val="solid"/>
          </a:ln>
        </p:spPr>
      </p:sp>
      <p:sp>
        <p:nvSpPr>
          <p:cNvPr id="6" name="Text 4"/>
          <p:cNvSpPr/>
          <p:nvPr/>
        </p:nvSpPr>
        <p:spPr>
          <a:xfrm>
            <a:off x="502920" y="1051560"/>
            <a:ext cx="8138160" cy="658368"/>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In high-density IoV environments, traditional broadcast-based emergency dissemination causes the network to collapse under its own redundancy — the very safety messages meant to protect lives arrive too late or not at all.</a:t>
            </a:r>
            <a:endParaRPr lang="en-US" sz="1200" dirty="0"/>
          </a:p>
        </p:txBody>
      </p:sp>
      <p:pic>
        <p:nvPicPr>
          <p:cNvPr id="7" name="Image 0" descr="preencoded.png"/>
          <p:cNvPicPr>
            <a:picLocks noChangeAspect="1"/>
          </p:cNvPicPr>
          <p:nvPr/>
        </p:nvPicPr>
        <p:blipFill>
          <a:blip r:embed="rId3"/>
          <a:stretch>
            <a:fillRect/>
          </a:stretch>
        </p:blipFill>
        <p:spPr>
          <a:xfrm>
            <a:off x="457200" y="2057400"/>
            <a:ext cx="365760" cy="365760"/>
          </a:xfrm>
          <a:prstGeom prst="rect">
            <a:avLst/>
          </a:prstGeom>
        </p:spPr>
      </p:pic>
      <p:sp>
        <p:nvSpPr>
          <p:cNvPr id="8" name="Text 5"/>
          <p:cNvSpPr/>
          <p:nvPr/>
        </p:nvSpPr>
        <p:spPr>
          <a:xfrm>
            <a:off x="1005840" y="1920240"/>
            <a:ext cx="7772400" cy="82296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Packet Collisions &amp; Congestion: </a:t>
            </a:r>
            <a:r>
              <a:rPr lang="en-US" sz="1300" dirty="0">
                <a:solidFill>
                  <a:srgbClr val="333333"/>
                </a:solidFill>
                <a:latin typeface="Calibri" pitchFamily="34" charset="0"/>
                <a:ea typeface="Calibri" pitchFamily="34" charset="-122"/>
                <a:cs typeface="Calibri" pitchFamily="34" charset="-120"/>
              </a:rPr>
              <a:t>When many vehicles broadcast the same emergency alert simultaneously, wireless channel collisions multiply, causing most packets to be lost.</a:t>
            </a:r>
            <a:endParaRPr lang="en-US" sz="1300" dirty="0"/>
          </a:p>
        </p:txBody>
      </p:sp>
      <p:pic>
        <p:nvPicPr>
          <p:cNvPr id="9" name="Image 1" descr="preencoded.png"/>
          <p:cNvPicPr>
            <a:picLocks noChangeAspect="1"/>
          </p:cNvPicPr>
          <p:nvPr/>
        </p:nvPicPr>
        <p:blipFill>
          <a:blip r:embed="rId4"/>
          <a:stretch>
            <a:fillRect/>
          </a:stretch>
        </p:blipFill>
        <p:spPr>
          <a:xfrm>
            <a:off x="457200" y="3017520"/>
            <a:ext cx="365760" cy="365760"/>
          </a:xfrm>
          <a:prstGeom prst="rect">
            <a:avLst/>
          </a:prstGeom>
        </p:spPr>
      </p:pic>
      <p:sp>
        <p:nvSpPr>
          <p:cNvPr id="10" name="Text 6"/>
          <p:cNvSpPr/>
          <p:nvPr/>
        </p:nvSpPr>
        <p:spPr>
          <a:xfrm>
            <a:off x="1005840" y="2880360"/>
            <a:ext cx="7772400" cy="82296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Delayed Safety-Critical Alerts: </a:t>
            </a:r>
            <a:r>
              <a:rPr lang="en-US" sz="1300" dirty="0">
                <a:solidFill>
                  <a:srgbClr val="333333"/>
                </a:solidFill>
                <a:latin typeface="Calibri" pitchFamily="34" charset="0"/>
                <a:ea typeface="Calibri" pitchFamily="34" charset="-122"/>
                <a:cs typeface="Calibri" pitchFamily="34" charset="-120"/>
              </a:rPr>
              <a:t>Channel saturation means emergency messages arrive too late for vehicles to take evasive action, directly threatening human lives.</a:t>
            </a:r>
            <a:endParaRPr lang="en-US" sz="1300" dirty="0"/>
          </a:p>
        </p:txBody>
      </p:sp>
      <p:pic>
        <p:nvPicPr>
          <p:cNvPr id="11" name="Image 2" descr="preencoded.png"/>
          <p:cNvPicPr>
            <a:picLocks noChangeAspect="1"/>
          </p:cNvPicPr>
          <p:nvPr/>
        </p:nvPicPr>
        <p:blipFill>
          <a:blip r:embed="rId5"/>
          <a:stretch>
            <a:fillRect/>
          </a:stretch>
        </p:blipFill>
        <p:spPr>
          <a:xfrm>
            <a:off x="457200" y="3977640"/>
            <a:ext cx="365760" cy="365760"/>
          </a:xfrm>
          <a:prstGeom prst="rect">
            <a:avLst/>
          </a:prstGeom>
        </p:spPr>
      </p:pic>
      <p:sp>
        <p:nvSpPr>
          <p:cNvPr id="12" name="Text 7"/>
          <p:cNvSpPr/>
          <p:nvPr/>
        </p:nvSpPr>
        <p:spPr>
          <a:xfrm>
            <a:off x="1005840" y="3840480"/>
            <a:ext cx="7772400" cy="822960"/>
          </a:xfrm>
          <a:prstGeom prst="rect">
            <a:avLst/>
          </a:prstGeom>
          <a:noFill/>
          <a:ln/>
        </p:spPr>
        <p:txBody>
          <a:bodyPr wrap="square" rtlCol="0" anchor="ctr"/>
          <a:lstStyle/>
          <a:p>
            <a:pPr marL="0" indent="0">
              <a:buNone/>
            </a:pPr>
            <a:r>
              <a:rPr lang="en-US" sz="1300" b="1" dirty="0">
                <a:solidFill>
                  <a:srgbClr val="7A1538"/>
                </a:solidFill>
                <a:latin typeface="Calibri" pitchFamily="34" charset="0"/>
                <a:ea typeface="Calibri" pitchFamily="34" charset="-122"/>
                <a:cs typeface="Calibri" pitchFamily="34" charset="-120"/>
              </a:rPr>
              <a:t>Lack of Trust Filtering: </a:t>
            </a:r>
            <a:r>
              <a:rPr lang="en-US" sz="1300" dirty="0">
                <a:solidFill>
                  <a:srgbClr val="333333"/>
                </a:solidFill>
                <a:latin typeface="Calibri" pitchFamily="34" charset="0"/>
                <a:ea typeface="Calibri" pitchFamily="34" charset="-122"/>
                <a:cs typeface="Calibri" pitchFamily="34" charset="-120"/>
              </a:rPr>
              <a:t>Existing broadcast systems forward messages from both legitimate and malicious nodes indiscriminately, spreading false alarms and wasting bandwidth.</a:t>
            </a:r>
            <a:endParaRPr lang="en-US" sz="1300" dirty="0"/>
          </a:p>
        </p:txBody>
      </p:sp>
      <p:sp>
        <p:nvSpPr>
          <p:cNvPr id="13" name="Shape 8"/>
          <p:cNvSpPr/>
          <p:nvPr/>
        </p:nvSpPr>
        <p:spPr>
          <a:xfrm>
            <a:off x="0" y="4937760"/>
            <a:ext cx="9144000" cy="201168"/>
          </a:xfrm>
          <a:prstGeom prst="rect">
            <a:avLst/>
          </a:prstGeom>
          <a:solidFill>
            <a:srgbClr val="7A1538"/>
          </a:solidFill>
          <a:ln w="12700">
            <a:solidFill>
              <a:srgbClr val="7A1538"/>
            </a:solidFill>
            <a:prstDash val="solid"/>
          </a:ln>
        </p:spPr>
      </p:sp>
      <p:sp>
        <p:nvSpPr>
          <p:cNvPr id="14" name="Text 9"/>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Real-World Impact &amp; Use Cases</a:t>
            </a:r>
            <a:endParaRPr lang="en-US" sz="2400" dirty="0"/>
          </a:p>
        </p:txBody>
      </p:sp>
      <p:sp>
        <p:nvSpPr>
          <p:cNvPr id="4" name="Text 2"/>
          <p:cNvSpPr/>
          <p:nvPr/>
        </p:nvSpPr>
        <p:spPr>
          <a:xfrm>
            <a:off x="274320" y="713232"/>
            <a:ext cx="8686800" cy="274320"/>
          </a:xfrm>
          <a:prstGeom prst="rect">
            <a:avLst/>
          </a:prstGeom>
          <a:noFill/>
          <a:ln/>
        </p:spPr>
        <p:txBody>
          <a:bodyPr wrap="square" rtlCol="0" anchor="ctr"/>
          <a:lstStyle/>
          <a:p>
            <a:pPr marL="0" indent="0">
              <a:buNone/>
            </a:pPr>
            <a:r>
              <a:rPr lang="en-US" sz="1200" i="1" dirty="0">
                <a:solidFill>
                  <a:srgbClr val="7A1538"/>
                </a:solidFill>
                <a:latin typeface="Calibri" pitchFamily="34" charset="0"/>
                <a:ea typeface="Calibri" pitchFamily="34" charset="-122"/>
                <a:cs typeface="Calibri" pitchFamily="34" charset="-120"/>
              </a:rPr>
              <a:t>How Broadcast Storms Affect Safety Applications Today</a:t>
            </a:r>
            <a:endParaRPr lang="en-US" sz="1200" dirty="0"/>
          </a:p>
        </p:txBody>
      </p:sp>
      <p:sp>
        <p:nvSpPr>
          <p:cNvPr id="5" name="Shape 3"/>
          <p:cNvSpPr/>
          <p:nvPr/>
        </p:nvSpPr>
        <p:spPr>
          <a:xfrm>
            <a:off x="365760" y="1051560"/>
            <a:ext cx="8412480" cy="1097280"/>
          </a:xfrm>
          <a:prstGeom prst="rect">
            <a:avLst/>
          </a:prstGeom>
          <a:solidFill>
            <a:srgbClr val="F5F5F5"/>
          </a:solidFill>
          <a:ln w="12700">
            <a:solidFill>
              <a:srgbClr val="DDDDDD"/>
            </a:solidFill>
            <a:prstDash val="solid"/>
          </a:ln>
        </p:spPr>
      </p:sp>
      <p:sp>
        <p:nvSpPr>
          <p:cNvPr id="6" name="Shape 4"/>
          <p:cNvSpPr/>
          <p:nvPr/>
        </p:nvSpPr>
        <p:spPr>
          <a:xfrm>
            <a:off x="365760" y="1051560"/>
            <a:ext cx="73152" cy="1097280"/>
          </a:xfrm>
          <a:prstGeom prst="rect">
            <a:avLst/>
          </a:prstGeom>
          <a:solidFill>
            <a:srgbClr val="7A1538"/>
          </a:solidFill>
          <a:ln w="12700">
            <a:solidFill>
              <a:srgbClr val="7A1538"/>
            </a:solidFill>
            <a:prstDash val="solid"/>
          </a:ln>
        </p:spPr>
      </p:sp>
      <p:pic>
        <p:nvPicPr>
          <p:cNvPr id="7" name="Image 0" descr="preencoded.png"/>
          <p:cNvPicPr>
            <a:picLocks noChangeAspect="1"/>
          </p:cNvPicPr>
          <p:nvPr/>
        </p:nvPicPr>
        <p:blipFill>
          <a:blip r:embed="rId3"/>
          <a:stretch>
            <a:fillRect/>
          </a:stretch>
        </p:blipFill>
        <p:spPr>
          <a:xfrm>
            <a:off x="530352" y="1371600"/>
            <a:ext cx="411480" cy="411480"/>
          </a:xfrm>
          <a:prstGeom prst="rect">
            <a:avLst/>
          </a:prstGeom>
        </p:spPr>
      </p:pic>
      <p:sp>
        <p:nvSpPr>
          <p:cNvPr id="8" name="Text 5"/>
          <p:cNvSpPr/>
          <p:nvPr/>
        </p:nvSpPr>
        <p:spPr>
          <a:xfrm>
            <a:off x="1097280" y="1143000"/>
            <a:ext cx="7498080" cy="914400"/>
          </a:xfrm>
          <a:prstGeom prst="rect">
            <a:avLst/>
          </a:prstGeom>
          <a:noFill/>
          <a:ln/>
        </p:spPr>
        <p:txBody>
          <a:bodyPr wrap="square" rtlCol="0" anchor="t"/>
          <a:lstStyle/>
          <a:p>
            <a:pPr marL="0" indent="0">
              <a:buNone/>
            </a:pPr>
            <a:r>
              <a:rPr lang="en-US" sz="1250" b="1" dirty="0">
                <a:solidFill>
                  <a:srgbClr val="7A1538"/>
                </a:solidFill>
                <a:latin typeface="Calibri" pitchFamily="34" charset="0"/>
                <a:ea typeface="Calibri" pitchFamily="34" charset="-122"/>
                <a:cs typeface="Calibri" pitchFamily="34" charset="-120"/>
              </a:rPr>
              <a:t>Highway Multi-Vehicle Accident:
</a:t>
            </a:r>
            <a:endParaRPr lang="en-US" sz="1250" dirty="0"/>
          </a:p>
          <a:p>
            <a:pPr marL="0" indent="0">
              <a:buNone/>
            </a:pPr>
            <a:r>
              <a:rPr lang="en-US" sz="1250" dirty="0">
                <a:solidFill>
                  <a:srgbClr val="333333"/>
                </a:solidFill>
                <a:latin typeface="Calibri" pitchFamily="34" charset="0"/>
                <a:ea typeface="Calibri" pitchFamily="34" charset="-122"/>
                <a:cs typeface="Calibri" pitchFamily="34" charset="-120"/>
              </a:rPr>
              <a:t>When a pile-up occurs, dozens of vehicles in proximity simultaneously broadcast SOS messages. The resulting storm prevents the original alert from reaching vehicles further down the highway in time.</a:t>
            </a:r>
            <a:endParaRPr lang="en-US" sz="1250" dirty="0"/>
          </a:p>
        </p:txBody>
      </p:sp>
      <p:sp>
        <p:nvSpPr>
          <p:cNvPr id="9" name="Shape 6"/>
          <p:cNvSpPr/>
          <p:nvPr/>
        </p:nvSpPr>
        <p:spPr>
          <a:xfrm>
            <a:off x="365760" y="2286000"/>
            <a:ext cx="8412480" cy="1097280"/>
          </a:xfrm>
          <a:prstGeom prst="rect">
            <a:avLst/>
          </a:prstGeom>
          <a:solidFill>
            <a:srgbClr val="F5F5F5"/>
          </a:solidFill>
          <a:ln w="12700">
            <a:solidFill>
              <a:srgbClr val="DDDDDD"/>
            </a:solidFill>
            <a:prstDash val="solid"/>
          </a:ln>
        </p:spPr>
      </p:sp>
      <p:sp>
        <p:nvSpPr>
          <p:cNvPr id="10" name="Shape 7"/>
          <p:cNvSpPr/>
          <p:nvPr/>
        </p:nvSpPr>
        <p:spPr>
          <a:xfrm>
            <a:off x="365760" y="2286000"/>
            <a:ext cx="73152" cy="1097280"/>
          </a:xfrm>
          <a:prstGeom prst="rect">
            <a:avLst/>
          </a:prstGeom>
          <a:solidFill>
            <a:srgbClr val="7A1538"/>
          </a:solidFill>
          <a:ln w="12700">
            <a:solidFill>
              <a:srgbClr val="7A1538"/>
            </a:solidFill>
            <a:prstDash val="solid"/>
          </a:ln>
        </p:spPr>
      </p:sp>
      <p:pic>
        <p:nvPicPr>
          <p:cNvPr id="11" name="Image 1" descr="preencoded.png"/>
          <p:cNvPicPr>
            <a:picLocks noChangeAspect="1"/>
          </p:cNvPicPr>
          <p:nvPr/>
        </p:nvPicPr>
        <p:blipFill>
          <a:blip r:embed="rId4"/>
          <a:stretch>
            <a:fillRect/>
          </a:stretch>
        </p:blipFill>
        <p:spPr>
          <a:xfrm>
            <a:off x="530352" y="2606040"/>
            <a:ext cx="411480" cy="411480"/>
          </a:xfrm>
          <a:prstGeom prst="rect">
            <a:avLst/>
          </a:prstGeom>
        </p:spPr>
      </p:pic>
      <p:sp>
        <p:nvSpPr>
          <p:cNvPr id="12" name="Text 8"/>
          <p:cNvSpPr/>
          <p:nvPr/>
        </p:nvSpPr>
        <p:spPr>
          <a:xfrm>
            <a:off x="1097280" y="2377440"/>
            <a:ext cx="7498080" cy="914400"/>
          </a:xfrm>
          <a:prstGeom prst="rect">
            <a:avLst/>
          </a:prstGeom>
          <a:noFill/>
          <a:ln/>
        </p:spPr>
        <p:txBody>
          <a:bodyPr wrap="square" rtlCol="0" anchor="t"/>
          <a:lstStyle/>
          <a:p>
            <a:pPr marL="0" indent="0">
              <a:buNone/>
            </a:pPr>
            <a:r>
              <a:rPr lang="en-US" sz="1250" b="1" dirty="0">
                <a:solidFill>
                  <a:srgbClr val="7A1538"/>
                </a:solidFill>
                <a:latin typeface="Calibri" pitchFamily="34" charset="0"/>
                <a:ea typeface="Calibri" pitchFamily="34" charset="-122"/>
                <a:cs typeface="Calibri" pitchFamily="34" charset="-120"/>
              </a:rPr>
              <a:t>Dense Urban Intersections:
</a:t>
            </a:r>
            <a:endParaRPr lang="en-US" sz="1250" dirty="0"/>
          </a:p>
          <a:p>
            <a:pPr marL="0" indent="0">
              <a:buNone/>
            </a:pPr>
            <a:r>
              <a:rPr lang="en-US" sz="1250" dirty="0">
                <a:solidFill>
                  <a:srgbClr val="333333"/>
                </a:solidFill>
                <a:latin typeface="Calibri" pitchFamily="34" charset="0"/>
                <a:ea typeface="Calibri" pitchFamily="34" charset="-122"/>
                <a:cs typeface="Calibri" pitchFamily="34" charset="-120"/>
              </a:rPr>
              <a:t>At busy intersections with high vehicle density, even minor incidents trigger flooding from hundreds of nearby nodes, saturating the channel and blocking genuine emergency dissemination.</a:t>
            </a:r>
            <a:endParaRPr lang="en-US" sz="1250" dirty="0"/>
          </a:p>
        </p:txBody>
      </p:sp>
      <p:sp>
        <p:nvSpPr>
          <p:cNvPr id="13" name="Shape 9"/>
          <p:cNvSpPr/>
          <p:nvPr/>
        </p:nvSpPr>
        <p:spPr>
          <a:xfrm>
            <a:off x="365760" y="3520440"/>
            <a:ext cx="8412480" cy="1097280"/>
          </a:xfrm>
          <a:prstGeom prst="rect">
            <a:avLst/>
          </a:prstGeom>
          <a:solidFill>
            <a:srgbClr val="F5F5F5"/>
          </a:solidFill>
          <a:ln w="12700">
            <a:solidFill>
              <a:srgbClr val="DDDDDD"/>
            </a:solidFill>
            <a:prstDash val="solid"/>
          </a:ln>
        </p:spPr>
      </p:sp>
      <p:sp>
        <p:nvSpPr>
          <p:cNvPr id="14" name="Shape 10"/>
          <p:cNvSpPr/>
          <p:nvPr/>
        </p:nvSpPr>
        <p:spPr>
          <a:xfrm>
            <a:off x="365760" y="3520440"/>
            <a:ext cx="73152" cy="1097280"/>
          </a:xfrm>
          <a:prstGeom prst="rect">
            <a:avLst/>
          </a:prstGeom>
          <a:solidFill>
            <a:srgbClr val="7A1538"/>
          </a:solidFill>
          <a:ln w="12700">
            <a:solidFill>
              <a:srgbClr val="7A1538"/>
            </a:solidFill>
            <a:prstDash val="solid"/>
          </a:ln>
        </p:spPr>
      </p:sp>
      <p:pic>
        <p:nvPicPr>
          <p:cNvPr id="15" name="Image 2" descr="preencoded.png"/>
          <p:cNvPicPr>
            <a:picLocks noChangeAspect="1"/>
          </p:cNvPicPr>
          <p:nvPr/>
        </p:nvPicPr>
        <p:blipFill>
          <a:blip r:embed="rId5"/>
          <a:stretch>
            <a:fillRect/>
          </a:stretch>
        </p:blipFill>
        <p:spPr>
          <a:xfrm>
            <a:off x="530352" y="3840480"/>
            <a:ext cx="411480" cy="411480"/>
          </a:xfrm>
          <a:prstGeom prst="rect">
            <a:avLst/>
          </a:prstGeom>
        </p:spPr>
      </p:pic>
      <p:sp>
        <p:nvSpPr>
          <p:cNvPr id="16" name="Text 11"/>
          <p:cNvSpPr/>
          <p:nvPr/>
        </p:nvSpPr>
        <p:spPr>
          <a:xfrm>
            <a:off x="1097280" y="3611880"/>
            <a:ext cx="7498080" cy="914400"/>
          </a:xfrm>
          <a:prstGeom prst="rect">
            <a:avLst/>
          </a:prstGeom>
          <a:noFill/>
          <a:ln/>
        </p:spPr>
        <p:txBody>
          <a:bodyPr wrap="square" rtlCol="0" anchor="t"/>
          <a:lstStyle/>
          <a:p>
            <a:pPr marL="0" indent="0">
              <a:buNone/>
            </a:pPr>
            <a:r>
              <a:rPr lang="en-US" sz="1250" b="1" dirty="0">
                <a:solidFill>
                  <a:srgbClr val="7A1538"/>
                </a:solidFill>
                <a:latin typeface="Calibri" pitchFamily="34" charset="0"/>
                <a:ea typeface="Calibri" pitchFamily="34" charset="-122"/>
                <a:cs typeface="Calibri" pitchFamily="34" charset="-120"/>
              </a:rPr>
              <a:t>Rogue Node Injection:
</a:t>
            </a:r>
            <a:endParaRPr lang="en-US" sz="1250" dirty="0"/>
          </a:p>
          <a:p>
            <a:pPr marL="0" indent="0">
              <a:buNone/>
            </a:pPr>
            <a:r>
              <a:rPr lang="en-US" sz="1250" dirty="0">
                <a:solidFill>
                  <a:srgbClr val="333333"/>
                </a:solidFill>
                <a:latin typeface="Calibri" pitchFamily="34" charset="0"/>
                <a:ea typeface="Calibri" pitchFamily="34" charset="-122"/>
                <a:cs typeface="Calibri" pitchFamily="34" charset="-120"/>
              </a:rPr>
              <a:t>Without trust filtering, attackers can inject false emergency messages, triggering mass rebroadcast and creating phantom congestion that diverts traffic into dangerous areas.</a:t>
            </a:r>
            <a:endParaRPr lang="en-US" sz="1250" dirty="0"/>
          </a:p>
        </p:txBody>
      </p:sp>
      <p:sp>
        <p:nvSpPr>
          <p:cNvPr id="17" name="Shape 12"/>
          <p:cNvSpPr/>
          <p:nvPr/>
        </p:nvSpPr>
        <p:spPr>
          <a:xfrm>
            <a:off x="0" y="4937760"/>
            <a:ext cx="9144000" cy="201168"/>
          </a:xfrm>
          <a:prstGeom prst="rect">
            <a:avLst/>
          </a:prstGeom>
          <a:solidFill>
            <a:srgbClr val="7A1538"/>
          </a:solidFill>
          <a:ln w="12700">
            <a:solidFill>
              <a:srgbClr val="7A1538"/>
            </a:solidFill>
            <a:prstDash val="solid"/>
          </a:ln>
        </p:spPr>
      </p:sp>
      <p:sp>
        <p:nvSpPr>
          <p:cNvPr id="18" name="Text 1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 (Part 1/6)</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3083840367"/>
              </p:ext>
            </p:extLst>
          </p:nvPr>
        </p:nvGraphicFramePr>
        <p:xfrm>
          <a:off x="57149" y="1079285"/>
          <a:ext cx="9029701" cy="2984930"/>
        </p:xfrm>
        <a:graphic>
          <a:graphicData uri="http://schemas.openxmlformats.org/drawingml/2006/table">
            <a:tbl>
              <a:tblPr/>
              <a:tblGrid>
                <a:gridCol w="639202">
                  <a:extLst>
                    <a:ext uri="{9D8B030D-6E8A-4147-A177-3AD203B41FA5}">
                      <a16:colId xmlns:a16="http://schemas.microsoft.com/office/drawing/2014/main" val="20000"/>
                    </a:ext>
                  </a:extLst>
                </a:gridCol>
                <a:gridCol w="2191003">
                  <a:extLst>
                    <a:ext uri="{9D8B030D-6E8A-4147-A177-3AD203B41FA5}">
                      <a16:colId xmlns:a16="http://schemas.microsoft.com/office/drawing/2014/main" val="20001"/>
                    </a:ext>
                  </a:extLst>
                </a:gridCol>
                <a:gridCol w="1168021">
                  <a:extLst>
                    <a:ext uri="{9D8B030D-6E8A-4147-A177-3AD203B41FA5}">
                      <a16:colId xmlns:a16="http://schemas.microsoft.com/office/drawing/2014/main" val="20002"/>
                    </a:ext>
                  </a:extLst>
                </a:gridCol>
                <a:gridCol w="1662184">
                  <a:extLst>
                    <a:ext uri="{9D8B030D-6E8A-4147-A177-3AD203B41FA5}">
                      <a16:colId xmlns:a16="http://schemas.microsoft.com/office/drawing/2014/main" val="20003"/>
                    </a:ext>
                  </a:extLst>
                </a:gridCol>
                <a:gridCol w="1752031">
                  <a:extLst>
                    <a:ext uri="{9D8B030D-6E8A-4147-A177-3AD203B41FA5}">
                      <a16:colId xmlns:a16="http://schemas.microsoft.com/office/drawing/2014/main" val="20004"/>
                    </a:ext>
                  </a:extLst>
                </a:gridCol>
                <a:gridCol w="1617260">
                  <a:extLst>
                    <a:ext uri="{9D8B030D-6E8A-4147-A177-3AD203B41FA5}">
                      <a16:colId xmlns:a16="http://schemas.microsoft.com/office/drawing/2014/main" val="20005"/>
                    </a:ext>
                  </a:extLst>
                </a:gridCol>
              </a:tblGrid>
              <a:tr h="45509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Paper Title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Advantage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Research Gap</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137160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VEMD: A V2V-Based Emergency Message Dissemination Scheme for </a:t>
                      </a:r>
                      <a:r>
                        <a:rPr lang="en-US" sz="1300" dirty="0" err="1">
                          <a:solidFill>
                            <a:srgbClr val="333333"/>
                          </a:solidFill>
                          <a:latin typeface="Calibri" pitchFamily="34" charset="0"/>
                          <a:ea typeface="Calibri" pitchFamily="34" charset="-122"/>
                          <a:cs typeface="Calibri" pitchFamily="34" charset="-120"/>
                        </a:rPr>
                        <a:t>IoV</a:t>
                      </a:r>
                      <a:r>
                        <a:rPr lang="en-US" sz="1300" dirty="0">
                          <a:solidFill>
                            <a:srgbClr val="333333"/>
                          </a:solidFill>
                          <a:latin typeface="Calibri" pitchFamily="34" charset="0"/>
                          <a:ea typeface="Calibri" pitchFamily="34" charset="-122"/>
                          <a:cs typeface="Calibri" pitchFamily="34" charset="-120"/>
                        </a:rPr>
                        <a:t> (Boudaoud et al.)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Congestion control via unicast</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Uses hop-count based proxy forwarding to reduce flooding</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No trust or security mechanism, Malicious nodes can inject false messages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Requires </a:t>
                      </a:r>
                      <a:r>
                        <a:rPr lang="en-US" sz="1400" b="1" dirty="0"/>
                        <a:t>trust-aware relay selection and secure message authentication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674546">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Deep Reinforcement Learning-based Intelligent QoS Optimization Algorithm for Efficient Routing – Wang et al.</a:t>
                      </a: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Routing</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Uses Deep Reinforcement Learning to optimize routing decisions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High computational complexity No built-in security or trust mechanism</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Needs </a:t>
                      </a:r>
                      <a:r>
                        <a:rPr lang="en-US" sz="1400" b="1" dirty="0"/>
                        <a:t>integration of trust model and secure routing framework</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4" name="Text 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 (Part 2/6)</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321768114"/>
              </p:ext>
            </p:extLst>
          </p:nvPr>
        </p:nvGraphicFramePr>
        <p:xfrm>
          <a:off x="103749" y="1192676"/>
          <a:ext cx="9027941" cy="3545615"/>
        </p:xfrm>
        <a:graphic>
          <a:graphicData uri="http://schemas.openxmlformats.org/drawingml/2006/table">
            <a:tbl>
              <a:tblPr/>
              <a:tblGrid>
                <a:gridCol w="494066">
                  <a:extLst>
                    <a:ext uri="{9D8B030D-6E8A-4147-A177-3AD203B41FA5}">
                      <a16:colId xmlns:a16="http://schemas.microsoft.com/office/drawing/2014/main" val="20000"/>
                    </a:ext>
                  </a:extLst>
                </a:gridCol>
                <a:gridCol w="2335587">
                  <a:extLst>
                    <a:ext uri="{9D8B030D-6E8A-4147-A177-3AD203B41FA5}">
                      <a16:colId xmlns:a16="http://schemas.microsoft.com/office/drawing/2014/main" val="20001"/>
                    </a:ext>
                  </a:extLst>
                </a:gridCol>
                <a:gridCol w="1167793">
                  <a:extLst>
                    <a:ext uri="{9D8B030D-6E8A-4147-A177-3AD203B41FA5}">
                      <a16:colId xmlns:a16="http://schemas.microsoft.com/office/drawing/2014/main" val="20002"/>
                    </a:ext>
                  </a:extLst>
                </a:gridCol>
                <a:gridCol w="1661860">
                  <a:extLst>
                    <a:ext uri="{9D8B030D-6E8A-4147-A177-3AD203B41FA5}">
                      <a16:colId xmlns:a16="http://schemas.microsoft.com/office/drawing/2014/main" val="20003"/>
                    </a:ext>
                  </a:extLst>
                </a:gridCol>
                <a:gridCol w="1751690">
                  <a:extLst>
                    <a:ext uri="{9D8B030D-6E8A-4147-A177-3AD203B41FA5}">
                      <a16:colId xmlns:a16="http://schemas.microsoft.com/office/drawing/2014/main" val="20004"/>
                    </a:ext>
                  </a:extLst>
                </a:gridCol>
                <a:gridCol w="1616945">
                  <a:extLst>
                    <a:ext uri="{9D8B030D-6E8A-4147-A177-3AD203B41FA5}">
                      <a16:colId xmlns:a16="http://schemas.microsoft.com/office/drawing/2014/main" val="20005"/>
                    </a:ext>
                  </a:extLst>
                </a:gridCol>
              </a:tblGrid>
              <a:tr h="375695">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Paper Title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Advantage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Research Gap</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1191226">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Cooperative Self-Scheduling Routing Approach Based on Energy Efficient Optimal Link Stability – Radhika et al.</a:t>
                      </a: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Routing</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Uses link stability and energy-aware scheduling for reliable routing, Reduces packet loss and improves route lifetime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No trust or authentication mechanism, Performance affected in highly dynamic topology</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Lacks </a:t>
                      </a:r>
                      <a:r>
                        <a:rPr lang="en-US" sz="1400" b="1" dirty="0"/>
                        <a:t>secure and trust-aware routing mechanism</a:t>
                      </a:r>
                      <a:r>
                        <a:rPr lang="en-US" sz="1400" dirty="0"/>
                        <a:t> for malicious node detection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1191226">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Energy Efficient Clustering with Optimized Q-Learning Algorithm for Routing in Heterogeneous WSN – Radhika et al.</a:t>
                      </a: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333333"/>
                          </a:solidFill>
                          <a:latin typeface="Calibri" pitchFamily="34" charset="0"/>
                          <a:ea typeface="Calibri" pitchFamily="34" charset="-122"/>
                          <a:cs typeface="Calibri" pitchFamily="34" charset="-120"/>
                        </a:rPr>
                        <a:t>Clustering + routing</a:t>
                      </a: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Combines clustering with Q-learning for adaptive routing, Improves energy efficiency and routing decisions dynamically</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No security or authentication layer, Training overhead in real-time scenarios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Needs </a:t>
                      </a:r>
                      <a:r>
                        <a:rPr lang="en-US" sz="1400" b="1" dirty="0"/>
                        <a:t>integration of trust model and broadcast control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6" name="Text 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 (Part 3/6)</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88741185"/>
              </p:ext>
            </p:extLst>
          </p:nvPr>
        </p:nvGraphicFramePr>
        <p:xfrm>
          <a:off x="45719" y="1154869"/>
          <a:ext cx="9052561" cy="3730727"/>
        </p:xfrm>
        <a:graphic>
          <a:graphicData uri="http://schemas.openxmlformats.org/drawingml/2006/table">
            <a:tbl>
              <a:tblPr/>
              <a:tblGrid>
                <a:gridCol w="587327">
                  <a:extLst>
                    <a:ext uri="{9D8B030D-6E8A-4147-A177-3AD203B41FA5}">
                      <a16:colId xmlns:a16="http://schemas.microsoft.com/office/drawing/2014/main" val="20000"/>
                    </a:ext>
                  </a:extLst>
                </a:gridCol>
                <a:gridCol w="2250043">
                  <a:extLst>
                    <a:ext uri="{9D8B030D-6E8A-4147-A177-3AD203B41FA5}">
                      <a16:colId xmlns:a16="http://schemas.microsoft.com/office/drawing/2014/main" val="20001"/>
                    </a:ext>
                  </a:extLst>
                </a:gridCol>
                <a:gridCol w="1170978">
                  <a:extLst>
                    <a:ext uri="{9D8B030D-6E8A-4147-A177-3AD203B41FA5}">
                      <a16:colId xmlns:a16="http://schemas.microsoft.com/office/drawing/2014/main" val="20002"/>
                    </a:ext>
                  </a:extLst>
                </a:gridCol>
                <a:gridCol w="1671484">
                  <a:extLst>
                    <a:ext uri="{9D8B030D-6E8A-4147-A177-3AD203B41FA5}">
                      <a16:colId xmlns:a16="http://schemas.microsoft.com/office/drawing/2014/main" val="20003"/>
                    </a:ext>
                  </a:extLst>
                </a:gridCol>
                <a:gridCol w="1751375">
                  <a:extLst>
                    <a:ext uri="{9D8B030D-6E8A-4147-A177-3AD203B41FA5}">
                      <a16:colId xmlns:a16="http://schemas.microsoft.com/office/drawing/2014/main" val="20004"/>
                    </a:ext>
                  </a:extLst>
                </a:gridCol>
                <a:gridCol w="1621354">
                  <a:extLst>
                    <a:ext uri="{9D8B030D-6E8A-4147-A177-3AD203B41FA5}">
                      <a16:colId xmlns:a16="http://schemas.microsoft.com/office/drawing/2014/main" val="20005"/>
                    </a:ext>
                  </a:extLst>
                </a:gridCol>
              </a:tblGrid>
              <a:tr h="347447">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Paper Title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Advantage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Research Gap</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1243157">
                <a:tc>
                  <a:txBody>
                    <a:bodyPr/>
                    <a:lstStyle/>
                    <a:p>
                      <a:pPr marL="0" indent="0" algn="l">
                        <a:buNone/>
                      </a:pPr>
                      <a:r>
                        <a:rPr lang="en-US" sz="1300" dirty="0">
                          <a:latin typeface="Calibri" charset="0"/>
                          <a:ea typeface="Calibri" charset="0"/>
                          <a:cs typeface="Calibri" charset="0"/>
                        </a:rPr>
                        <a:t>2024</a:t>
                      </a: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333333"/>
                          </a:solidFill>
                          <a:latin typeface="Calibri" pitchFamily="34" charset="0"/>
                          <a:ea typeface="Calibri" pitchFamily="34" charset="-122"/>
                          <a:cs typeface="Calibri" pitchFamily="34" charset="-120"/>
                        </a:rPr>
                        <a:t>Reliable and Stable Routing in VANET using K-Means with Heuristic Algorithm – Rajeswari &amp; Suganthi</a:t>
                      </a: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333333"/>
                          </a:solidFill>
                          <a:latin typeface="Calibri" pitchFamily="34" charset="0"/>
                          <a:ea typeface="Calibri" pitchFamily="34" charset="-122"/>
                          <a:cs typeface="Calibri" pitchFamily="34" charset="-120"/>
                        </a:rPr>
                        <a:t>Clustering + routing</a:t>
                      </a: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K-Means clustering improves routing stability and network organization, Heuristic routing enhances packet delivery ratio (PDR)</a:t>
                      </a:r>
                      <a:endParaRPr lang="en-US" sz="1300" b="1"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No trust evaluation or authentication Cluster formation overhead in dense networks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Requires </a:t>
                      </a:r>
                      <a:r>
                        <a:rPr lang="en-US" sz="1400" b="1" dirty="0"/>
                        <a:t>trust-based clustering and secure routing integration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1243157">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2024</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Energy Efficient Clustering with Heuristic Optimization-Based Routing Protocol for VANETs – Muthuswamy et al.</a:t>
                      </a: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Clustering + routing</a:t>
                      </a: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ANFIS-based clustering improves energy efficiency, Heuristic routing reduces overhead and improves scalability</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No mechanism to detect malicious nodes Security and authentication not addressed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400" dirty="0"/>
                        <a:t>Needs </a:t>
                      </a:r>
                      <a:r>
                        <a:rPr lang="en-US" sz="1400" b="1" dirty="0"/>
                        <a:t>trust-aware clustering and secure communication framework</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6" name="Text 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 (Part 4/6)</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294120175"/>
              </p:ext>
            </p:extLst>
          </p:nvPr>
        </p:nvGraphicFramePr>
        <p:xfrm>
          <a:off x="45720" y="1291004"/>
          <a:ext cx="9052559" cy="2561492"/>
        </p:xfrm>
        <a:graphic>
          <a:graphicData uri="http://schemas.openxmlformats.org/drawingml/2006/table">
            <a:tbl>
              <a:tblPr/>
              <a:tblGrid>
                <a:gridCol w="495413">
                  <a:extLst>
                    <a:ext uri="{9D8B030D-6E8A-4147-A177-3AD203B41FA5}">
                      <a16:colId xmlns:a16="http://schemas.microsoft.com/office/drawing/2014/main" val="20000"/>
                    </a:ext>
                  </a:extLst>
                </a:gridCol>
                <a:gridCol w="2341956">
                  <a:extLst>
                    <a:ext uri="{9D8B030D-6E8A-4147-A177-3AD203B41FA5}">
                      <a16:colId xmlns:a16="http://schemas.microsoft.com/office/drawing/2014/main" val="20001"/>
                    </a:ext>
                  </a:extLst>
                </a:gridCol>
                <a:gridCol w="1170978">
                  <a:extLst>
                    <a:ext uri="{9D8B030D-6E8A-4147-A177-3AD203B41FA5}">
                      <a16:colId xmlns:a16="http://schemas.microsoft.com/office/drawing/2014/main" val="20002"/>
                    </a:ext>
                  </a:extLst>
                </a:gridCol>
                <a:gridCol w="1666391">
                  <a:extLst>
                    <a:ext uri="{9D8B030D-6E8A-4147-A177-3AD203B41FA5}">
                      <a16:colId xmlns:a16="http://schemas.microsoft.com/office/drawing/2014/main" val="20003"/>
                    </a:ext>
                  </a:extLst>
                </a:gridCol>
                <a:gridCol w="1756467">
                  <a:extLst>
                    <a:ext uri="{9D8B030D-6E8A-4147-A177-3AD203B41FA5}">
                      <a16:colId xmlns:a16="http://schemas.microsoft.com/office/drawing/2014/main" val="20004"/>
                    </a:ext>
                  </a:extLst>
                </a:gridCol>
                <a:gridCol w="1621354">
                  <a:extLst>
                    <a:ext uri="{9D8B030D-6E8A-4147-A177-3AD203B41FA5}">
                      <a16:colId xmlns:a16="http://schemas.microsoft.com/office/drawing/2014/main" val="20005"/>
                    </a:ext>
                  </a:extLst>
                </a:gridCol>
              </a:tblGrid>
              <a:tr h="239151">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Paper Title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Advantage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Research Gap</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1135966">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Role of RSUs in Cluster Head Election and Coverage Maximization for Vehicle Emergency Services (Kaur et al.)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RSU-based CH selection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O(</a:t>
                      </a:r>
                      <a:r>
                        <a:rPr lang="en-US" sz="1300" dirty="0" err="1">
                          <a:solidFill>
                            <a:srgbClr val="333333"/>
                          </a:solidFill>
                          <a:latin typeface="Calibri" pitchFamily="34" charset="0"/>
                          <a:ea typeface="Calibri" pitchFamily="34" charset="-122"/>
                          <a:cs typeface="Calibri" pitchFamily="34" charset="-120"/>
                        </a:rPr>
                        <a:t>log₂N</a:t>
                      </a:r>
                      <a:r>
                        <a:rPr lang="en-US" sz="1300" dirty="0">
                          <a:solidFill>
                            <a:srgbClr val="333333"/>
                          </a:solidFill>
                          <a:latin typeface="Calibri" pitchFamily="34" charset="0"/>
                          <a:ea typeface="Calibri" pitchFamily="34" charset="-122"/>
                          <a:cs typeface="Calibri" pitchFamily="34" charset="-120"/>
                        </a:rPr>
                        <a:t>) CH selection; 3× faster clustering; doubles info coverage vs time barrier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No authentication layer; adversarial nodes not filtered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Trust-aware filtering absent; batch auth for dense environments needed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1135966">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Cluster-Based Safety Message Dissemination via Mobile Gateway Selection in Cellular 5G (Alghamdi)</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5G V2X clustering</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Path-similarity clustering reduces overhead in urban V2X; dynamic gateway selection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Path similarity may not hold at high speeds; no trust mechanism for relay nodes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Trust-aware CH selection for broadcast storm mitigation in dense IoV still unaddressed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6" name="Text 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 (Part 5/6)</a:t>
            </a:r>
            <a:endParaRPr lang="en-US" sz="2400" dirty="0"/>
          </a:p>
        </p:txBody>
      </p:sp>
      <p:graphicFrame>
        <p:nvGraphicFramePr>
          <p:cNvPr id="6" name="Table 0"/>
          <p:cNvGraphicFramePr>
            <a:graphicFrameLocks noGrp="1"/>
          </p:cNvGraphicFramePr>
          <p:nvPr/>
        </p:nvGraphicFramePr>
        <p:xfrm>
          <a:off x="57149" y="1117385"/>
          <a:ext cx="9029701" cy="2908730"/>
        </p:xfrm>
        <a:graphic>
          <a:graphicData uri="http://schemas.openxmlformats.org/drawingml/2006/table">
            <a:tbl>
              <a:tblPr/>
              <a:tblGrid>
                <a:gridCol w="494163">
                  <a:extLst>
                    <a:ext uri="{9D8B030D-6E8A-4147-A177-3AD203B41FA5}">
                      <a16:colId xmlns:a16="http://schemas.microsoft.com/office/drawing/2014/main" val="20000"/>
                    </a:ext>
                  </a:extLst>
                </a:gridCol>
                <a:gridCol w="2336042">
                  <a:extLst>
                    <a:ext uri="{9D8B030D-6E8A-4147-A177-3AD203B41FA5}">
                      <a16:colId xmlns:a16="http://schemas.microsoft.com/office/drawing/2014/main" val="20001"/>
                    </a:ext>
                  </a:extLst>
                </a:gridCol>
                <a:gridCol w="1168021">
                  <a:extLst>
                    <a:ext uri="{9D8B030D-6E8A-4147-A177-3AD203B41FA5}">
                      <a16:colId xmlns:a16="http://schemas.microsoft.com/office/drawing/2014/main" val="20002"/>
                    </a:ext>
                  </a:extLst>
                </a:gridCol>
                <a:gridCol w="1662184">
                  <a:extLst>
                    <a:ext uri="{9D8B030D-6E8A-4147-A177-3AD203B41FA5}">
                      <a16:colId xmlns:a16="http://schemas.microsoft.com/office/drawing/2014/main" val="20003"/>
                    </a:ext>
                  </a:extLst>
                </a:gridCol>
                <a:gridCol w="1752031">
                  <a:extLst>
                    <a:ext uri="{9D8B030D-6E8A-4147-A177-3AD203B41FA5}">
                      <a16:colId xmlns:a16="http://schemas.microsoft.com/office/drawing/2014/main" val="20004"/>
                    </a:ext>
                  </a:extLst>
                </a:gridCol>
                <a:gridCol w="1617260">
                  <a:extLst>
                    <a:ext uri="{9D8B030D-6E8A-4147-A177-3AD203B41FA5}">
                      <a16:colId xmlns:a16="http://schemas.microsoft.com/office/drawing/2014/main" val="20005"/>
                    </a:ext>
                  </a:extLst>
                </a:gridCol>
              </a:tblGrid>
              <a:tr h="45509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Paper Title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Advantage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Research Gap</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137160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TCEMD: Trust Cascading-Based Emergency Message Dissemination in VANETs (Liu et al.)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Trust-based dissemination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Integrates entity &amp; data trust via trust cascading for higher correct decision %</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CA must be online; complex certificate management overhead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No clustering for broadcast storm reduction; no batch authentication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674546">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HTEMD: Hybrid-Trust Emergency Message Dissemination for VANETs (Qi et al.)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Hybrid trust models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Combines entity trust with information entropy theory; robust to 40% malicious nodes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Static parameters limit flexibility; local congestion in urban rush hours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Does not address broadcast storm; no IoV-level RSU batch auth</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4" name="Text 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Literature Review (Part 6/6)</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529455817"/>
              </p:ext>
            </p:extLst>
          </p:nvPr>
        </p:nvGraphicFramePr>
        <p:xfrm>
          <a:off x="45720" y="736796"/>
          <a:ext cx="9052559" cy="4149968"/>
        </p:xfrm>
        <a:graphic>
          <a:graphicData uri="http://schemas.openxmlformats.org/drawingml/2006/table">
            <a:tbl>
              <a:tblPr/>
              <a:tblGrid>
                <a:gridCol w="495413">
                  <a:extLst>
                    <a:ext uri="{9D8B030D-6E8A-4147-A177-3AD203B41FA5}">
                      <a16:colId xmlns:a16="http://schemas.microsoft.com/office/drawing/2014/main" val="20000"/>
                    </a:ext>
                  </a:extLst>
                </a:gridCol>
                <a:gridCol w="2341956">
                  <a:extLst>
                    <a:ext uri="{9D8B030D-6E8A-4147-A177-3AD203B41FA5}">
                      <a16:colId xmlns:a16="http://schemas.microsoft.com/office/drawing/2014/main" val="20001"/>
                    </a:ext>
                  </a:extLst>
                </a:gridCol>
                <a:gridCol w="1170978">
                  <a:extLst>
                    <a:ext uri="{9D8B030D-6E8A-4147-A177-3AD203B41FA5}">
                      <a16:colId xmlns:a16="http://schemas.microsoft.com/office/drawing/2014/main" val="20002"/>
                    </a:ext>
                  </a:extLst>
                </a:gridCol>
                <a:gridCol w="1666391">
                  <a:extLst>
                    <a:ext uri="{9D8B030D-6E8A-4147-A177-3AD203B41FA5}">
                      <a16:colId xmlns:a16="http://schemas.microsoft.com/office/drawing/2014/main" val="20003"/>
                    </a:ext>
                  </a:extLst>
                </a:gridCol>
                <a:gridCol w="1756467">
                  <a:extLst>
                    <a:ext uri="{9D8B030D-6E8A-4147-A177-3AD203B41FA5}">
                      <a16:colId xmlns:a16="http://schemas.microsoft.com/office/drawing/2014/main" val="20004"/>
                    </a:ext>
                  </a:extLst>
                </a:gridCol>
                <a:gridCol w="1621354">
                  <a:extLst>
                    <a:ext uri="{9D8B030D-6E8A-4147-A177-3AD203B41FA5}">
                      <a16:colId xmlns:a16="http://schemas.microsoft.com/office/drawing/2014/main" val="20005"/>
                    </a:ext>
                  </a:extLst>
                </a:gridCol>
              </a:tblGrid>
              <a:tr h="368746">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Paper Title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Advantage</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Research Gap</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1250531">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Time Barrier-Based Emergency Message Dissemination in VANETs (Shah et al.)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Broadcast storm mitigation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Time barrier inversely tied to distance; reduces re-broadcasts; improved PDR vs flooding</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Relies on accurate GPS distance; performance degrades at high speed/density</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No trust evaluation; gateway node count unbounded; no RSU-level batch authentication</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1250531">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RA-HEMB: RSU-Assisted Hybrid Emergency Messages Broadcasting for VANETs (Xi et al.)</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RSU-assisted hybrid broadcast</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Significantly reduces emergency notification time vs benchmark broadcast protocols</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Focuses on delivery latency only; ignores node authenticity and trust scoring</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Trust-aware filtering and batch authentication at RSU not integrated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1250531">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333333"/>
                          </a:solidFill>
                          <a:latin typeface="Calibri" pitchFamily="34" charset="0"/>
                          <a:ea typeface="Calibri" pitchFamily="34" charset="-122"/>
                          <a:cs typeface="Calibri" pitchFamily="34" charset="-120"/>
                        </a:rPr>
                        <a:t>Route-Based Emergency Message Dissemination Using </a:t>
                      </a:r>
                      <a:r>
                        <a:rPr lang="en-US" sz="1300" dirty="0" err="1">
                          <a:solidFill>
                            <a:srgbClr val="333333"/>
                          </a:solidFill>
                          <a:latin typeface="Calibri" pitchFamily="34" charset="0"/>
                          <a:ea typeface="Calibri" pitchFamily="34" charset="-122"/>
                          <a:cs typeface="Calibri" pitchFamily="34" charset="-120"/>
                        </a:rPr>
                        <a:t>Multihop</a:t>
                      </a:r>
                      <a:r>
                        <a:rPr lang="en-US" sz="1300" dirty="0">
                          <a:solidFill>
                            <a:srgbClr val="333333"/>
                          </a:solidFill>
                          <a:latin typeface="Calibri" pitchFamily="34" charset="0"/>
                          <a:ea typeface="Calibri" pitchFamily="34" charset="-122"/>
                          <a:cs typeface="Calibri" pitchFamily="34" charset="-120"/>
                        </a:rPr>
                        <a:t> Wireless Network for VANETs (Kaur et al.)</a:t>
                      </a:r>
                      <a:endParaRPr lang="en-US" sz="1300" dirty="0">
                        <a:latin typeface="Calibri" charset="0"/>
                        <a:ea typeface="Calibri" charset="0"/>
                        <a:cs typeface="Calibri" charset="0"/>
                      </a:endParaRP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333333"/>
                          </a:solidFill>
                          <a:latin typeface="Calibri" pitchFamily="34" charset="0"/>
                          <a:ea typeface="Calibri" pitchFamily="34" charset="-122"/>
                          <a:cs typeface="Calibri" pitchFamily="34" charset="-120"/>
                        </a:rPr>
                        <a:t>Clustering + emergency dissemination</a:t>
                      </a:r>
                      <a:endParaRPr lang="en-US" sz="1300" dirty="0">
                        <a:latin typeface="Calibri" charset="0"/>
                        <a:ea typeface="Calibri" charset="0"/>
                        <a:cs typeface="Calibri" charset="0"/>
                      </a:endParaRP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333333"/>
                          </a:solidFill>
                          <a:latin typeface="Calibri" pitchFamily="34" charset="0"/>
                          <a:ea typeface="Calibri" pitchFamily="34" charset="-122"/>
                          <a:cs typeface="Calibri" pitchFamily="34" charset="-120"/>
                        </a:rPr>
                        <a:t>Hybrid V2V/V2RSU; 100% info coverage (uniform); bridge nodes reduce flooding</a:t>
                      </a:r>
                      <a:endParaRPr lang="en-US" sz="1300" dirty="0">
                        <a:latin typeface="Calibri" charset="0"/>
                        <a:ea typeface="Calibri" charset="0"/>
                        <a:cs typeface="Calibri" charset="0"/>
                      </a:endParaRP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333333"/>
                          </a:solidFill>
                          <a:latin typeface="Calibri" pitchFamily="34" charset="0"/>
                          <a:ea typeface="Calibri" pitchFamily="34" charset="-122"/>
                          <a:cs typeface="Calibri" pitchFamily="34" charset="-120"/>
                        </a:rPr>
                        <a:t>Security not addressed; non-uniform speed reduces coverage to 99.1%</a:t>
                      </a:r>
                      <a:endParaRPr lang="en-US" sz="1300" dirty="0">
                        <a:latin typeface="Calibri" charset="0"/>
                        <a:ea typeface="Calibri" charset="0"/>
                        <a:cs typeface="Calibri" charset="0"/>
                      </a:endParaRPr>
                    </a:p>
                    <a:p>
                      <a:pPr marL="0" indent="0" algn="l">
                        <a:buNone/>
                      </a:pP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333333"/>
                          </a:solidFill>
                          <a:latin typeface="Calibri" pitchFamily="34" charset="0"/>
                          <a:ea typeface="Calibri" pitchFamily="34" charset="-122"/>
                          <a:cs typeface="Calibri" pitchFamily="34" charset="-120"/>
                        </a:rPr>
                        <a:t>No trust evaluation or authentication; broadcast storm partially mitigated</a:t>
                      </a:r>
                      <a:endParaRPr lang="en-US" sz="13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3510801447"/>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6" name="Text 3"/>
          <p:cNvSpPr/>
          <p:nvPr/>
        </p:nvSpPr>
        <p:spPr>
          <a:xfrm>
            <a:off x="7772400" y="4937760"/>
            <a:ext cx="128016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Research Gap</a:t>
            </a:r>
            <a:endParaRPr lang="en-US" sz="2400" dirty="0"/>
          </a:p>
        </p:txBody>
      </p:sp>
      <p:sp>
        <p:nvSpPr>
          <p:cNvPr id="4" name="Text 2"/>
          <p:cNvSpPr/>
          <p:nvPr/>
        </p:nvSpPr>
        <p:spPr>
          <a:xfrm>
            <a:off x="365760" y="777240"/>
            <a:ext cx="8412480" cy="50292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Based on recent literature surrounding emergency message dissemination and trust management in IoV, existing systems exhibit three critical limitations:</a:t>
            </a:r>
            <a:endParaRPr lang="en-US" sz="1300" dirty="0"/>
          </a:p>
        </p:txBody>
      </p:sp>
      <p:sp>
        <p:nvSpPr>
          <p:cNvPr id="5" name="Shape 3"/>
          <p:cNvSpPr/>
          <p:nvPr/>
        </p:nvSpPr>
        <p:spPr>
          <a:xfrm>
            <a:off x="274320" y="1325880"/>
            <a:ext cx="8595360" cy="1005840"/>
          </a:xfrm>
          <a:prstGeom prst="rect">
            <a:avLst/>
          </a:prstGeom>
          <a:solidFill>
            <a:srgbClr val="EAD8E0"/>
          </a:solidFill>
          <a:ln w="12700">
            <a:solidFill>
              <a:srgbClr val="7A1538"/>
            </a:solidFill>
            <a:prstDash val="solid"/>
          </a:ln>
        </p:spPr>
      </p:sp>
      <p:sp>
        <p:nvSpPr>
          <p:cNvPr id="6" name="Shape 4"/>
          <p:cNvSpPr/>
          <p:nvPr/>
        </p:nvSpPr>
        <p:spPr>
          <a:xfrm>
            <a:off x="274320" y="1325880"/>
            <a:ext cx="411480" cy="1005840"/>
          </a:xfrm>
          <a:prstGeom prst="rect">
            <a:avLst/>
          </a:prstGeom>
          <a:solidFill>
            <a:srgbClr val="7A1538"/>
          </a:solidFill>
          <a:ln w="12700">
            <a:solidFill>
              <a:srgbClr val="7A1538"/>
            </a:solidFill>
            <a:prstDash val="solid"/>
          </a:ln>
        </p:spPr>
      </p:sp>
      <p:pic>
        <p:nvPicPr>
          <p:cNvPr id="7" name="Image 0" descr="preencoded.png"/>
          <p:cNvPicPr>
            <a:picLocks noChangeAspect="1"/>
          </p:cNvPicPr>
          <p:nvPr/>
        </p:nvPicPr>
        <p:blipFill>
          <a:blip r:embed="rId3"/>
          <a:stretch>
            <a:fillRect/>
          </a:stretch>
        </p:blipFill>
        <p:spPr>
          <a:xfrm>
            <a:off x="338328" y="1600200"/>
            <a:ext cx="292608" cy="292608"/>
          </a:xfrm>
          <a:prstGeom prst="rect">
            <a:avLst/>
          </a:prstGeom>
        </p:spPr>
      </p:pic>
      <p:sp>
        <p:nvSpPr>
          <p:cNvPr id="8" name="Text 5"/>
          <p:cNvSpPr/>
          <p:nvPr/>
        </p:nvSpPr>
        <p:spPr>
          <a:xfrm>
            <a:off x="777240" y="1399032"/>
            <a:ext cx="7955280" cy="868680"/>
          </a:xfrm>
          <a:prstGeom prst="rect">
            <a:avLst/>
          </a:prstGeom>
          <a:noFill/>
          <a:ln/>
        </p:spPr>
        <p:txBody>
          <a:bodyPr wrap="square" rtlCol="0" anchor="ctr"/>
          <a:lstStyle/>
          <a:p>
            <a:pPr marL="0" indent="0">
              <a:buNone/>
            </a:pPr>
            <a:r>
              <a:rPr lang="en-US" sz="1150" b="1" dirty="0">
                <a:solidFill>
                  <a:srgbClr val="7A1538"/>
                </a:solidFill>
                <a:latin typeface="Calibri" pitchFamily="34" charset="0"/>
                <a:ea typeface="Calibri" pitchFamily="34" charset="-122"/>
                <a:cs typeface="Calibri" pitchFamily="34" charset="-120"/>
              </a:rPr>
              <a:t>Uncontrolled Broadcast Flooding </a:t>
            </a:r>
            <a:r>
              <a:rPr lang="en-US" sz="1150" dirty="0">
                <a:solidFill>
                  <a:srgbClr val="333333"/>
                </a:solidFill>
                <a:latin typeface="Calibri" pitchFamily="34" charset="0"/>
                <a:ea typeface="Calibri" pitchFamily="34" charset="-122"/>
                <a:cs typeface="Calibri" pitchFamily="34" charset="-120"/>
              </a:rPr>
              <a:t>Most dissemination schemes — time-barrier, probabilistic, or cluster-based — still rely on multi-node broadcasting. When vehicle density is high, the number of simultaneous re-transmissions creates channel saturation. No existing system dynamically limits forwarding to a fixed, trusted set of cluster heads in real time.</a:t>
            </a:r>
            <a:endParaRPr lang="en-US" sz="1150" dirty="0"/>
          </a:p>
        </p:txBody>
      </p:sp>
      <p:sp>
        <p:nvSpPr>
          <p:cNvPr id="9" name="Shape 6"/>
          <p:cNvSpPr/>
          <p:nvPr/>
        </p:nvSpPr>
        <p:spPr>
          <a:xfrm>
            <a:off x="274320" y="2496312"/>
            <a:ext cx="8595360" cy="1005840"/>
          </a:xfrm>
          <a:prstGeom prst="rect">
            <a:avLst/>
          </a:prstGeom>
          <a:solidFill>
            <a:srgbClr val="EAD8E0"/>
          </a:solidFill>
          <a:ln w="12700">
            <a:solidFill>
              <a:srgbClr val="7A1538"/>
            </a:solidFill>
            <a:prstDash val="solid"/>
          </a:ln>
        </p:spPr>
      </p:sp>
      <p:sp>
        <p:nvSpPr>
          <p:cNvPr id="10" name="Shape 7"/>
          <p:cNvSpPr/>
          <p:nvPr/>
        </p:nvSpPr>
        <p:spPr>
          <a:xfrm>
            <a:off x="274320" y="2496312"/>
            <a:ext cx="411480" cy="1005840"/>
          </a:xfrm>
          <a:prstGeom prst="rect">
            <a:avLst/>
          </a:prstGeom>
          <a:solidFill>
            <a:srgbClr val="7A1538"/>
          </a:solidFill>
          <a:ln w="12700">
            <a:solidFill>
              <a:srgbClr val="7A1538"/>
            </a:solidFill>
            <a:prstDash val="solid"/>
          </a:ln>
        </p:spPr>
      </p:sp>
      <p:pic>
        <p:nvPicPr>
          <p:cNvPr id="11" name="Image 1" descr="preencoded.png"/>
          <p:cNvPicPr>
            <a:picLocks noChangeAspect="1"/>
          </p:cNvPicPr>
          <p:nvPr/>
        </p:nvPicPr>
        <p:blipFill>
          <a:blip r:embed="rId4"/>
          <a:stretch>
            <a:fillRect/>
          </a:stretch>
        </p:blipFill>
        <p:spPr>
          <a:xfrm>
            <a:off x="338328" y="2770632"/>
            <a:ext cx="292608" cy="292608"/>
          </a:xfrm>
          <a:prstGeom prst="rect">
            <a:avLst/>
          </a:prstGeom>
        </p:spPr>
      </p:pic>
      <p:sp>
        <p:nvSpPr>
          <p:cNvPr id="12" name="Text 8"/>
          <p:cNvSpPr/>
          <p:nvPr/>
        </p:nvSpPr>
        <p:spPr>
          <a:xfrm>
            <a:off x="777240" y="2569464"/>
            <a:ext cx="7955280" cy="868680"/>
          </a:xfrm>
          <a:prstGeom prst="rect">
            <a:avLst/>
          </a:prstGeom>
          <a:noFill/>
          <a:ln/>
        </p:spPr>
        <p:txBody>
          <a:bodyPr wrap="square" rtlCol="0" anchor="ctr"/>
          <a:lstStyle/>
          <a:p>
            <a:pPr marL="0" indent="0">
              <a:buNone/>
            </a:pPr>
            <a:r>
              <a:rPr lang="en-US" sz="1150" b="1" dirty="0">
                <a:solidFill>
                  <a:srgbClr val="7A1538"/>
                </a:solidFill>
                <a:latin typeface="Calibri" pitchFamily="34" charset="0"/>
                <a:ea typeface="Calibri" pitchFamily="34" charset="-122"/>
                <a:cs typeface="Calibri" pitchFamily="34" charset="-120"/>
              </a:rPr>
              <a:t>Absence of Integrated Trust Filtering in Clustering </a:t>
            </a:r>
            <a:r>
              <a:rPr lang="en-US" sz="1150" dirty="0">
                <a:solidFill>
                  <a:srgbClr val="333333"/>
                </a:solidFill>
                <a:latin typeface="Calibri" pitchFamily="34" charset="0"/>
                <a:ea typeface="Calibri" pitchFamily="34" charset="-122"/>
                <a:cs typeface="Calibri" pitchFamily="34" charset="-120"/>
              </a:rPr>
              <a:t>Existing trust models (TCEMD, HTEMD) evaluate message authenticity independently of the clustering process. They do not use trust scores to elect cluster heads. This means untrustworthy nodes can still be selected as forwarders, propagating false emergency messages.</a:t>
            </a:r>
            <a:endParaRPr lang="en-US" sz="1150" dirty="0"/>
          </a:p>
        </p:txBody>
      </p:sp>
      <p:sp>
        <p:nvSpPr>
          <p:cNvPr id="13" name="Shape 9"/>
          <p:cNvSpPr/>
          <p:nvPr/>
        </p:nvSpPr>
        <p:spPr>
          <a:xfrm>
            <a:off x="274320" y="3666744"/>
            <a:ext cx="8595360" cy="1005840"/>
          </a:xfrm>
          <a:prstGeom prst="rect">
            <a:avLst/>
          </a:prstGeom>
          <a:solidFill>
            <a:srgbClr val="EAD8E0"/>
          </a:solidFill>
          <a:ln w="12700">
            <a:solidFill>
              <a:srgbClr val="7A1538"/>
            </a:solidFill>
            <a:prstDash val="solid"/>
          </a:ln>
        </p:spPr>
      </p:sp>
      <p:sp>
        <p:nvSpPr>
          <p:cNvPr id="14" name="Shape 10"/>
          <p:cNvSpPr/>
          <p:nvPr/>
        </p:nvSpPr>
        <p:spPr>
          <a:xfrm>
            <a:off x="274320" y="3666744"/>
            <a:ext cx="411480" cy="1005840"/>
          </a:xfrm>
          <a:prstGeom prst="rect">
            <a:avLst/>
          </a:prstGeom>
          <a:solidFill>
            <a:srgbClr val="7A1538"/>
          </a:solidFill>
          <a:ln w="12700">
            <a:solidFill>
              <a:srgbClr val="7A1538"/>
            </a:solidFill>
            <a:prstDash val="solid"/>
          </a:ln>
        </p:spPr>
      </p:sp>
      <p:pic>
        <p:nvPicPr>
          <p:cNvPr id="15" name="Image 2" descr="preencoded.png"/>
          <p:cNvPicPr>
            <a:picLocks noChangeAspect="1"/>
          </p:cNvPicPr>
          <p:nvPr/>
        </p:nvPicPr>
        <p:blipFill>
          <a:blip r:embed="rId5"/>
          <a:stretch>
            <a:fillRect/>
          </a:stretch>
        </p:blipFill>
        <p:spPr>
          <a:xfrm>
            <a:off x="338328" y="3941064"/>
            <a:ext cx="292608" cy="292608"/>
          </a:xfrm>
          <a:prstGeom prst="rect">
            <a:avLst/>
          </a:prstGeom>
        </p:spPr>
      </p:pic>
      <p:sp>
        <p:nvSpPr>
          <p:cNvPr id="16" name="Text 11"/>
          <p:cNvSpPr/>
          <p:nvPr/>
        </p:nvSpPr>
        <p:spPr>
          <a:xfrm>
            <a:off x="777240" y="3739896"/>
            <a:ext cx="7955280" cy="868680"/>
          </a:xfrm>
          <a:prstGeom prst="rect">
            <a:avLst/>
          </a:prstGeom>
          <a:noFill/>
          <a:ln/>
        </p:spPr>
        <p:txBody>
          <a:bodyPr wrap="square" rtlCol="0" anchor="ctr"/>
          <a:lstStyle/>
          <a:p>
            <a:pPr marL="0" indent="0">
              <a:buNone/>
            </a:pPr>
            <a:r>
              <a:rPr lang="en-US" sz="1150" b="1" dirty="0">
                <a:solidFill>
                  <a:srgbClr val="7A1538"/>
                </a:solidFill>
                <a:latin typeface="Calibri" pitchFamily="34" charset="0"/>
                <a:ea typeface="Calibri" pitchFamily="34" charset="-122"/>
                <a:cs typeface="Calibri" pitchFamily="34" charset="-120"/>
              </a:rPr>
              <a:t>Lack of Scalable Batch Authentication at RSU </a:t>
            </a:r>
            <a:r>
              <a:rPr lang="en-US" sz="1150" dirty="0">
                <a:solidFill>
                  <a:srgbClr val="333333"/>
                </a:solidFill>
                <a:latin typeface="Calibri" pitchFamily="34" charset="0"/>
                <a:ea typeface="Calibri" pitchFamily="34" charset="-122"/>
                <a:cs typeface="Calibri" pitchFamily="34" charset="-120"/>
              </a:rPr>
              <a:t>Authentication overhead per message is unacceptable in dense IoV scenarios where hundreds of messages arrive simultaneously. No existing framework combines cluster-head-based forwarding control with RSU-level batch authentication to verify groups of messages in a single cryptographic operation.</a:t>
            </a:r>
            <a:endParaRPr lang="en-US" sz="1150" dirty="0"/>
          </a:p>
        </p:txBody>
      </p:sp>
      <p:sp>
        <p:nvSpPr>
          <p:cNvPr id="17" name="Shape 12"/>
          <p:cNvSpPr/>
          <p:nvPr/>
        </p:nvSpPr>
        <p:spPr>
          <a:xfrm>
            <a:off x="0" y="4937760"/>
            <a:ext cx="9144000" cy="201168"/>
          </a:xfrm>
          <a:prstGeom prst="rect">
            <a:avLst/>
          </a:prstGeom>
          <a:solidFill>
            <a:srgbClr val="7A1538"/>
          </a:solidFill>
          <a:ln w="12700">
            <a:solidFill>
              <a:srgbClr val="7A1538"/>
            </a:solidFill>
            <a:prstDash val="solid"/>
          </a:ln>
        </p:spPr>
      </p:sp>
      <p:sp>
        <p:nvSpPr>
          <p:cNvPr id="18" name="Text 13"/>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Proposed System vs. Research Gaps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425196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85039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Identified Research Gap</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Legacy Limitation</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Our Implementation (The Solution)</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7A1538"/>
                    </a:solidFill>
                  </a:tcPr>
                </a:tc>
                <a:extLst>
                  <a:ext uri="{0D108BD9-81ED-4DB2-BD59-A6C34878D82A}">
                    <a16:rowId xmlns:a16="http://schemas.microsoft.com/office/drawing/2014/main" val="10000"/>
                  </a:ext>
                </a:extLst>
              </a:tr>
              <a:tr h="850392">
                <a:tc>
                  <a:txBody>
                    <a:bodyPr/>
                    <a:lstStyle/>
                    <a:p>
                      <a:pPr marL="0" indent="0">
                        <a:buNone/>
                      </a:pPr>
                      <a:r>
                        <a:rPr lang="en-US" sz="1100" b="1" dirty="0">
                          <a:solidFill>
                            <a:srgbClr val="7A1538"/>
                          </a:solidFill>
                          <a:latin typeface="Calibri" pitchFamily="34" charset="0"/>
                          <a:ea typeface="Calibri" pitchFamily="34" charset="-122"/>
                          <a:cs typeface="Calibri" pitchFamily="34" charset="-120"/>
                        </a:rPr>
                        <a:t>Uncontrolled Broadcast Flooding</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AD8E0"/>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All nearby vehicles re-broadcast simultaneously, causing channel saturation and packet loss even in existing cluster-based approaches.</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Trust-Aware Cluster Head Forwarding: Only elected, trusted cluster heads forward emergency messages — drastically reducing redundant transmissions.</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850392">
                <a:tc>
                  <a:txBody>
                    <a:bodyPr/>
                    <a:lstStyle/>
                    <a:p>
                      <a:pPr marL="0" indent="0">
                        <a:buNone/>
                      </a:pPr>
                      <a:r>
                        <a:rPr lang="en-US" sz="1100" b="1" dirty="0">
                          <a:solidFill>
                            <a:srgbClr val="7A1538"/>
                          </a:solidFill>
                          <a:latin typeface="Calibri" pitchFamily="34" charset="0"/>
                          <a:ea typeface="Calibri" pitchFamily="34" charset="-122"/>
                          <a:cs typeface="Calibri" pitchFamily="34" charset="-120"/>
                        </a:rPr>
                        <a:t>No Trust Integration in CH Selection</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AD8E0"/>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Cluster heads are selected purely on mobility metrics; malicious or unreliable nodes can be elected and spread false alerts.</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Trust-Score CH Election: CH election incorporates vehicle trust scores computed from historical behavior, preventing untrustworthy nodes from becoming forwarders.</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850392">
                <a:tc>
                  <a:txBody>
                    <a:bodyPr/>
                    <a:lstStyle/>
                    <a:p>
                      <a:pPr marL="0" indent="0">
                        <a:buNone/>
                      </a:pPr>
                      <a:r>
                        <a:rPr lang="en-US" sz="1100" b="1" dirty="0">
                          <a:solidFill>
                            <a:srgbClr val="7A1538"/>
                          </a:solidFill>
                          <a:latin typeface="Calibri" pitchFamily="34" charset="0"/>
                          <a:ea typeface="Calibri" pitchFamily="34" charset="-122"/>
                          <a:cs typeface="Calibri" pitchFamily="34" charset="-120"/>
                        </a:rPr>
                        <a:t>No Scalable Authentication at RSU</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AD8E0"/>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Per-message authentication is computationally prohibitive at high vehicle densities, creating authentication latency that delays emergency delivery.</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RSU Batch Authentication: RSUs verify groups of emergency messages from cluster heads in a single cryptographic batch operation, enabling low-latency, scalable authentication.</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3"/>
                  </a:ext>
                </a:extLst>
              </a:tr>
              <a:tr h="850392">
                <a:tc>
                  <a:txBody>
                    <a:bodyPr/>
                    <a:lstStyle/>
                    <a:p>
                      <a:pPr marL="0" indent="0">
                        <a:buNone/>
                      </a:pPr>
                      <a:r>
                        <a:rPr lang="en-US" sz="1100" b="1" dirty="0">
                          <a:solidFill>
                            <a:srgbClr val="7A1538"/>
                          </a:solidFill>
                          <a:latin typeface="Calibri" pitchFamily="34" charset="0"/>
                          <a:ea typeface="Calibri" pitchFamily="34" charset="-122"/>
                          <a:cs typeface="Calibri" pitchFamily="34" charset="-120"/>
                        </a:rPr>
                        <a:t>Reactive Analysis Only</a:t>
                      </a:r>
                      <a:endParaRPr lang="en-US" sz="11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AD8E0"/>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Existing systems simply forward alerts without contextual analysis; no real-time threat assessment or intent classification.</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Live Dashboard &amp; Trust Analytics: A real-time visualization dashboard maps forwarding activity, trust scores, and anomaly detection across the IoV network.</a:t>
                      </a:r>
                      <a:endParaRPr lang="en-US" sz="1000" dirty="0">
                        <a:latin typeface="Calibri" charset="0"/>
                        <a:ea typeface="Calibri" charset="0"/>
                        <a:cs typeface="Calibri" charset="0"/>
                      </a:endParaRPr>
                    </a:p>
                  </a:txBody>
                  <a:tcP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0" y="4937760"/>
            <a:ext cx="9144000" cy="201168"/>
          </a:xfrm>
          <a:prstGeom prst="rect">
            <a:avLst/>
          </a:prstGeom>
          <a:solidFill>
            <a:srgbClr val="7A1538"/>
          </a:solidFill>
          <a:ln w="12700">
            <a:solidFill>
              <a:srgbClr val="7A1538"/>
            </a:solidFill>
            <a:prstDash val="solid"/>
          </a:ln>
        </p:spPr>
      </p:sp>
      <p:sp>
        <p:nvSpPr>
          <p:cNvPr id="6" name="Text 3"/>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Problem Statement</a:t>
            </a:r>
            <a:endParaRPr lang="en-US" sz="2400" dirty="0"/>
          </a:p>
        </p:txBody>
      </p:sp>
      <p:sp>
        <p:nvSpPr>
          <p:cNvPr id="7" name="Text 5"/>
          <p:cNvSpPr/>
          <p:nvPr/>
        </p:nvSpPr>
        <p:spPr>
          <a:xfrm>
            <a:off x="455623" y="2162398"/>
            <a:ext cx="7955280" cy="1457364"/>
          </a:xfrm>
          <a:prstGeom prst="rect">
            <a:avLst/>
          </a:prstGeom>
          <a:noFill/>
          <a:ln/>
        </p:spPr>
        <p:txBody>
          <a:bodyPr wrap="square" rtlCol="0" anchor="t"/>
          <a:lstStyle/>
          <a:p>
            <a:r>
              <a:rPr lang="en-US" sz="1400" dirty="0"/>
              <a:t>Current emergency message dissemination in dense </a:t>
            </a:r>
            <a:r>
              <a:rPr lang="en-US" sz="1400" dirty="0" err="1"/>
              <a:t>IoV</a:t>
            </a:r>
            <a:r>
              <a:rPr lang="en-US" sz="1400" dirty="0"/>
              <a:t> environments suffers from uncontrolled redundant broadcasts, known as the broadcast storm problem. This excessive flooding causes severe network congestion and packet collisions, directly delaying safety-critical alerts. Existing systems lack the capability to balance efficient redundancy control with robust message authentication. Therefore, there is a critical need for a system that can reliably filter redundant broadcasts while ensuring secure, low-latency delivery of trustworthy emergency data.</a:t>
            </a:r>
            <a:endParaRPr lang="en-US" sz="1300" dirty="0"/>
          </a:p>
        </p:txBody>
      </p:sp>
      <p:sp>
        <p:nvSpPr>
          <p:cNvPr id="8" name="Shape 6"/>
          <p:cNvSpPr/>
          <p:nvPr/>
        </p:nvSpPr>
        <p:spPr>
          <a:xfrm>
            <a:off x="0" y="4937760"/>
            <a:ext cx="9144000" cy="201168"/>
          </a:xfrm>
          <a:prstGeom prst="rect">
            <a:avLst/>
          </a:prstGeom>
          <a:solidFill>
            <a:srgbClr val="7A1538"/>
          </a:solidFill>
          <a:ln w="12700">
            <a:solidFill>
              <a:srgbClr val="7A1538"/>
            </a:solidFill>
            <a:prstDash val="solid"/>
          </a:ln>
        </p:spPr>
      </p:sp>
      <p:sp>
        <p:nvSpPr>
          <p:cNvPr id="9" name="Text 7"/>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12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Architecture Diagram</a:t>
            </a:r>
            <a:endParaRPr lang="en-US" sz="2400" dirty="0"/>
          </a:p>
        </p:txBody>
      </p:sp>
      <p:sp>
        <p:nvSpPr>
          <p:cNvPr id="4" name="Shape 2"/>
          <p:cNvSpPr/>
          <p:nvPr/>
        </p:nvSpPr>
        <p:spPr>
          <a:xfrm>
            <a:off x="137160" y="2148840"/>
            <a:ext cx="1097280" cy="548640"/>
          </a:xfrm>
          <a:prstGeom prst="rect">
            <a:avLst/>
          </a:prstGeom>
          <a:solidFill>
            <a:srgbClr val="F0F0F0"/>
          </a:solidFill>
          <a:ln w="12700">
            <a:solidFill>
              <a:srgbClr val="999999"/>
            </a:solidFill>
            <a:prstDash val="solid"/>
          </a:ln>
        </p:spPr>
      </p:sp>
      <p:sp>
        <p:nvSpPr>
          <p:cNvPr id="5" name="Text 3"/>
          <p:cNvSpPr/>
          <p:nvPr/>
        </p:nvSpPr>
        <p:spPr>
          <a:xfrm>
            <a:off x="137160" y="2148840"/>
            <a:ext cx="1097280" cy="54864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Attacker</a:t>
            </a:r>
            <a:endParaRPr lang="en-US" sz="900" dirty="0"/>
          </a:p>
          <a:p>
            <a:pPr marL="0" indent="0" algn="ctr">
              <a:buNone/>
            </a:pPr>
            <a:r>
              <a:rPr lang="en-US" sz="900" dirty="0">
                <a:solidFill>
                  <a:srgbClr val="333333"/>
                </a:solidFill>
                <a:latin typeface="Calibri" pitchFamily="34" charset="0"/>
                <a:ea typeface="Calibri" pitchFamily="34" charset="-122"/>
                <a:cs typeface="Calibri" pitchFamily="34" charset="-120"/>
              </a:rPr>
              <a:t>(Vehicle)</a:t>
            </a:r>
            <a:endParaRPr lang="en-US" sz="900" dirty="0"/>
          </a:p>
        </p:txBody>
      </p:sp>
      <p:sp>
        <p:nvSpPr>
          <p:cNvPr id="6" name="Shape 4"/>
          <p:cNvSpPr/>
          <p:nvPr/>
        </p:nvSpPr>
        <p:spPr>
          <a:xfrm>
            <a:off x="274320" y="960120"/>
            <a:ext cx="2286000" cy="731520"/>
          </a:xfrm>
          <a:prstGeom prst="rect">
            <a:avLst/>
          </a:prstGeom>
          <a:solidFill>
            <a:srgbClr val="F5F5F5"/>
          </a:solidFill>
          <a:ln w="12700">
            <a:solidFill>
              <a:srgbClr val="7A1538"/>
            </a:solidFill>
            <a:prstDash val="solid"/>
          </a:ln>
        </p:spPr>
      </p:sp>
      <p:sp>
        <p:nvSpPr>
          <p:cNvPr id="7" name="Text 5"/>
          <p:cNvSpPr/>
          <p:nvPr/>
        </p:nvSpPr>
        <p:spPr>
          <a:xfrm>
            <a:off x="365760" y="1005840"/>
            <a:ext cx="2103120" cy="640080"/>
          </a:xfrm>
          <a:prstGeom prst="rect">
            <a:avLst/>
          </a:prstGeom>
          <a:noFill/>
          <a:ln/>
        </p:spPr>
        <p:txBody>
          <a:bodyPr wrap="square" rtlCol="0" anchor="ctr"/>
          <a:lstStyle/>
          <a:p>
            <a:pPr marL="0" indent="0" algn="ctr">
              <a:buNone/>
            </a:pPr>
            <a:r>
              <a:rPr lang="en-US" sz="1000" b="1" dirty="0">
                <a:solidFill>
                  <a:srgbClr val="7A1538"/>
                </a:solidFill>
                <a:latin typeface="Calibri" pitchFamily="34" charset="0"/>
                <a:ea typeface="Calibri" pitchFamily="34" charset="-122"/>
                <a:cs typeface="Calibri" pitchFamily="34" charset="-120"/>
              </a:rPr>
              <a:t>1. Smart Entry Point</a:t>
            </a:r>
            <a:endParaRPr lang="en-US" sz="1000" dirty="0"/>
          </a:p>
          <a:p>
            <a:pPr marL="0" indent="0" algn="ctr">
              <a:buNone/>
            </a:pPr>
            <a:r>
              <a:rPr lang="en-US" sz="1000" b="1" dirty="0">
                <a:solidFill>
                  <a:srgbClr val="7A1538"/>
                </a:solidFill>
                <a:latin typeface="Calibri" pitchFamily="34" charset="0"/>
                <a:ea typeface="Calibri" pitchFamily="34" charset="-122"/>
                <a:cs typeface="Calibri" pitchFamily="34" charset="-120"/>
              </a:rPr>
              <a:t>(Traffic Controller &amp; RSU)</a:t>
            </a:r>
            <a:endParaRPr lang="en-US" sz="1000" dirty="0"/>
          </a:p>
        </p:txBody>
      </p:sp>
      <p:sp>
        <p:nvSpPr>
          <p:cNvPr id="8" name="Shape 6"/>
          <p:cNvSpPr/>
          <p:nvPr/>
        </p:nvSpPr>
        <p:spPr>
          <a:xfrm>
            <a:off x="3108960" y="993363"/>
            <a:ext cx="2560320" cy="731520"/>
          </a:xfrm>
          <a:prstGeom prst="rect">
            <a:avLst/>
          </a:prstGeom>
          <a:solidFill>
            <a:srgbClr val="EAD8E0"/>
          </a:solidFill>
          <a:ln w="12700">
            <a:solidFill>
              <a:srgbClr val="7A1538"/>
            </a:solidFill>
            <a:prstDash val="solid"/>
          </a:ln>
        </p:spPr>
      </p:sp>
      <p:sp>
        <p:nvSpPr>
          <p:cNvPr id="9" name="Text 7"/>
          <p:cNvSpPr/>
          <p:nvPr/>
        </p:nvSpPr>
        <p:spPr>
          <a:xfrm>
            <a:off x="3200400" y="1005840"/>
            <a:ext cx="2377440" cy="640080"/>
          </a:xfrm>
          <a:prstGeom prst="rect">
            <a:avLst/>
          </a:prstGeom>
          <a:noFill/>
          <a:ln/>
        </p:spPr>
        <p:txBody>
          <a:bodyPr wrap="square" rtlCol="0" anchor="ctr"/>
          <a:lstStyle/>
          <a:p>
            <a:pPr marL="0" indent="0" algn="ctr">
              <a:buNone/>
            </a:pPr>
            <a:r>
              <a:rPr lang="en-US" sz="1000" b="1" dirty="0">
                <a:solidFill>
                  <a:srgbClr val="7A1538"/>
                </a:solidFill>
                <a:latin typeface="Calibri" pitchFamily="34" charset="0"/>
                <a:ea typeface="Calibri" pitchFamily="34" charset="-122"/>
                <a:cs typeface="Calibri" pitchFamily="34" charset="-120"/>
              </a:rPr>
              <a:t>2. Trust-Aware CH Election</a:t>
            </a:r>
            <a:endParaRPr lang="en-US" sz="1000" dirty="0"/>
          </a:p>
          <a:p>
            <a:pPr marL="0" indent="0" algn="ctr">
              <a:buNone/>
            </a:pPr>
            <a:r>
              <a:rPr lang="en-US" sz="1000" b="1" dirty="0">
                <a:solidFill>
                  <a:srgbClr val="7A1538"/>
                </a:solidFill>
                <a:latin typeface="Calibri" pitchFamily="34" charset="0"/>
                <a:ea typeface="Calibri" pitchFamily="34" charset="-122"/>
                <a:cs typeface="Calibri" pitchFamily="34" charset="-120"/>
              </a:rPr>
              <a:t>(Trust Score + Mobility Metrics)</a:t>
            </a:r>
            <a:endParaRPr lang="en-US" sz="1000" dirty="0"/>
          </a:p>
        </p:txBody>
      </p:sp>
      <p:sp>
        <p:nvSpPr>
          <p:cNvPr id="10" name="Shape 8"/>
          <p:cNvSpPr/>
          <p:nvPr/>
        </p:nvSpPr>
        <p:spPr>
          <a:xfrm>
            <a:off x="3108960" y="2148840"/>
            <a:ext cx="2560320" cy="731520"/>
          </a:xfrm>
          <a:prstGeom prst="rect">
            <a:avLst/>
          </a:prstGeom>
          <a:solidFill>
            <a:srgbClr val="EAD8E0"/>
          </a:solidFill>
          <a:ln w="12700">
            <a:solidFill>
              <a:srgbClr val="7A1538"/>
            </a:solidFill>
            <a:prstDash val="solid"/>
          </a:ln>
        </p:spPr>
      </p:sp>
      <p:sp>
        <p:nvSpPr>
          <p:cNvPr id="11" name="Text 9"/>
          <p:cNvSpPr/>
          <p:nvPr/>
        </p:nvSpPr>
        <p:spPr>
          <a:xfrm>
            <a:off x="3200400" y="2194560"/>
            <a:ext cx="2377440" cy="640080"/>
          </a:xfrm>
          <a:prstGeom prst="rect">
            <a:avLst/>
          </a:prstGeom>
          <a:noFill/>
          <a:ln/>
        </p:spPr>
        <p:txBody>
          <a:bodyPr wrap="square" rtlCol="0" anchor="ctr"/>
          <a:lstStyle/>
          <a:p>
            <a:pPr marL="0" indent="0" algn="ctr">
              <a:buNone/>
            </a:pPr>
            <a:r>
              <a:rPr lang="en-US" sz="1000" b="1" dirty="0">
                <a:solidFill>
                  <a:srgbClr val="7A1538"/>
                </a:solidFill>
                <a:latin typeface="Calibri" pitchFamily="34" charset="0"/>
                <a:ea typeface="Calibri" pitchFamily="34" charset="-122"/>
                <a:cs typeface="Calibri" pitchFamily="34" charset="-120"/>
              </a:rPr>
              <a:t>3. Cluster-Based</a:t>
            </a:r>
            <a:endParaRPr lang="en-US" sz="1000" dirty="0"/>
          </a:p>
          <a:p>
            <a:pPr marL="0" indent="0" algn="ctr">
              <a:buNone/>
            </a:pPr>
            <a:r>
              <a:rPr lang="en-US" sz="1000" b="1" dirty="0">
                <a:solidFill>
                  <a:srgbClr val="7A1538"/>
                </a:solidFill>
                <a:latin typeface="Calibri" pitchFamily="34" charset="0"/>
                <a:ea typeface="Calibri" pitchFamily="34" charset="-122"/>
                <a:cs typeface="Calibri" pitchFamily="34" charset="-120"/>
              </a:rPr>
              <a:t>Controlled Forwarding</a:t>
            </a:r>
            <a:endParaRPr lang="en-US" sz="1000" dirty="0"/>
          </a:p>
        </p:txBody>
      </p:sp>
      <p:sp>
        <p:nvSpPr>
          <p:cNvPr id="12" name="Shape 10"/>
          <p:cNvSpPr/>
          <p:nvPr/>
        </p:nvSpPr>
        <p:spPr>
          <a:xfrm>
            <a:off x="274320" y="3291840"/>
            <a:ext cx="2560320" cy="731520"/>
          </a:xfrm>
          <a:prstGeom prst="rect">
            <a:avLst/>
          </a:prstGeom>
          <a:solidFill>
            <a:srgbClr val="EAD8E0"/>
          </a:solidFill>
          <a:ln w="12700">
            <a:solidFill>
              <a:srgbClr val="7A1538"/>
            </a:solidFill>
            <a:prstDash val="solid"/>
          </a:ln>
        </p:spPr>
      </p:sp>
      <p:sp>
        <p:nvSpPr>
          <p:cNvPr id="13" name="Text 11"/>
          <p:cNvSpPr/>
          <p:nvPr/>
        </p:nvSpPr>
        <p:spPr>
          <a:xfrm>
            <a:off x="365760" y="3337560"/>
            <a:ext cx="2377440" cy="640080"/>
          </a:xfrm>
          <a:prstGeom prst="rect">
            <a:avLst/>
          </a:prstGeom>
          <a:noFill/>
          <a:ln/>
        </p:spPr>
        <p:txBody>
          <a:bodyPr wrap="square" rtlCol="0" anchor="ctr"/>
          <a:lstStyle/>
          <a:p>
            <a:pPr marL="0" indent="0" algn="ctr">
              <a:buNone/>
            </a:pPr>
            <a:r>
              <a:rPr lang="en-US" sz="1000" b="1" dirty="0">
                <a:solidFill>
                  <a:srgbClr val="7A1538"/>
                </a:solidFill>
                <a:latin typeface="Calibri" pitchFamily="34" charset="0"/>
                <a:ea typeface="Calibri" pitchFamily="34" charset="-122"/>
                <a:cs typeface="Calibri" pitchFamily="34" charset="-120"/>
              </a:rPr>
              <a:t>4. RSU Batch Authentication</a:t>
            </a:r>
            <a:endParaRPr lang="en-US" sz="1000" dirty="0"/>
          </a:p>
          <a:p>
            <a:pPr marL="0" indent="0" algn="ctr">
              <a:buNone/>
            </a:pPr>
            <a:r>
              <a:rPr lang="en-US" sz="1000" b="1" dirty="0">
                <a:solidFill>
                  <a:srgbClr val="7A1538"/>
                </a:solidFill>
                <a:latin typeface="Calibri" pitchFamily="34" charset="0"/>
                <a:ea typeface="Calibri" pitchFamily="34" charset="-122"/>
                <a:cs typeface="Calibri" pitchFamily="34" charset="-120"/>
              </a:rPr>
              <a:t>(Group Signature Verify)</a:t>
            </a:r>
            <a:endParaRPr lang="en-US" sz="1000" dirty="0"/>
          </a:p>
        </p:txBody>
      </p:sp>
      <p:sp>
        <p:nvSpPr>
          <p:cNvPr id="14" name="Shape 12"/>
          <p:cNvSpPr/>
          <p:nvPr/>
        </p:nvSpPr>
        <p:spPr>
          <a:xfrm>
            <a:off x="6309360" y="3291840"/>
            <a:ext cx="2560320" cy="731520"/>
          </a:xfrm>
          <a:prstGeom prst="rect">
            <a:avLst/>
          </a:prstGeom>
          <a:solidFill>
            <a:srgbClr val="F5F5F5"/>
          </a:solidFill>
          <a:ln w="12700">
            <a:solidFill>
              <a:srgbClr val="7A1538"/>
            </a:solidFill>
            <a:prstDash val="solid"/>
          </a:ln>
        </p:spPr>
      </p:sp>
      <p:sp>
        <p:nvSpPr>
          <p:cNvPr id="15" name="Text 13"/>
          <p:cNvSpPr/>
          <p:nvPr/>
        </p:nvSpPr>
        <p:spPr>
          <a:xfrm>
            <a:off x="6400800" y="3337560"/>
            <a:ext cx="2377440" cy="640080"/>
          </a:xfrm>
          <a:prstGeom prst="rect">
            <a:avLst/>
          </a:prstGeom>
          <a:noFill/>
          <a:ln/>
        </p:spPr>
        <p:txBody>
          <a:bodyPr wrap="square" rtlCol="0" anchor="ctr"/>
          <a:lstStyle/>
          <a:p>
            <a:pPr marL="0" indent="0" algn="ctr">
              <a:buNone/>
            </a:pPr>
            <a:r>
              <a:rPr lang="en-US" sz="1000" b="1" dirty="0">
                <a:solidFill>
                  <a:srgbClr val="7A1538"/>
                </a:solidFill>
                <a:latin typeface="Calibri" pitchFamily="34" charset="0"/>
                <a:ea typeface="Calibri" pitchFamily="34" charset="-122"/>
                <a:cs typeface="Calibri" pitchFamily="34" charset="-120"/>
              </a:rPr>
              <a:t>5. Live Trust &amp; Network</a:t>
            </a:r>
            <a:endParaRPr lang="en-US" sz="1000" dirty="0"/>
          </a:p>
          <a:p>
            <a:pPr marL="0" indent="0" algn="ctr">
              <a:buNone/>
            </a:pPr>
            <a:r>
              <a:rPr lang="en-US" sz="1000" b="1" dirty="0">
                <a:solidFill>
                  <a:srgbClr val="7A1538"/>
                </a:solidFill>
                <a:latin typeface="Calibri" pitchFamily="34" charset="0"/>
                <a:ea typeface="Calibri" pitchFamily="34" charset="-122"/>
                <a:cs typeface="Calibri" pitchFamily="34" charset="-120"/>
              </a:rPr>
              <a:t>Dashboard</a:t>
            </a:r>
            <a:endParaRPr lang="en-US" sz="1000" dirty="0"/>
          </a:p>
        </p:txBody>
      </p:sp>
      <p:sp>
        <p:nvSpPr>
          <p:cNvPr id="16" name="Shape 14"/>
          <p:cNvSpPr/>
          <p:nvPr/>
        </p:nvSpPr>
        <p:spPr>
          <a:xfrm>
            <a:off x="1325880" y="1325880"/>
            <a:ext cx="1783080" cy="0"/>
          </a:xfrm>
          <a:prstGeom prst="line">
            <a:avLst/>
          </a:prstGeom>
          <a:noFill/>
          <a:ln w="19050">
            <a:solidFill>
              <a:srgbClr val="7A1538"/>
            </a:solidFill>
            <a:prstDash val="solid"/>
          </a:ln>
        </p:spPr>
      </p:sp>
      <p:sp>
        <p:nvSpPr>
          <p:cNvPr id="17" name="Text 15"/>
          <p:cNvSpPr/>
          <p:nvPr/>
        </p:nvSpPr>
        <p:spPr>
          <a:xfrm>
            <a:off x="1463040" y="1033272"/>
            <a:ext cx="1645920" cy="365760"/>
          </a:xfrm>
          <a:prstGeom prst="rect">
            <a:avLst/>
          </a:prstGeom>
          <a:noFill/>
          <a:ln/>
        </p:spPr>
        <p:txBody>
          <a:bodyPr wrap="square"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Routes Traffic</a:t>
            </a:r>
            <a:endParaRPr lang="en-US" sz="800" dirty="0"/>
          </a:p>
          <a:p>
            <a:pPr marL="0" indent="0" algn="ctr">
              <a:buNone/>
            </a:pPr>
            <a:r>
              <a:rPr lang="en-US" sz="800" dirty="0">
                <a:solidFill>
                  <a:srgbClr val="666666"/>
                </a:solidFill>
                <a:latin typeface="Calibri" pitchFamily="34" charset="0"/>
                <a:ea typeface="Calibri" pitchFamily="34" charset="-122"/>
                <a:cs typeface="Calibri" pitchFamily="34" charset="-120"/>
              </a:rPr>
              <a:t>+ Trust Score</a:t>
            </a:r>
            <a:endParaRPr lang="en-US" sz="800" dirty="0"/>
          </a:p>
        </p:txBody>
      </p:sp>
      <p:sp>
        <p:nvSpPr>
          <p:cNvPr id="18" name="Shape 16"/>
          <p:cNvSpPr/>
          <p:nvPr/>
        </p:nvSpPr>
        <p:spPr>
          <a:xfrm>
            <a:off x="4389120" y="1691640"/>
            <a:ext cx="0" cy="457200"/>
          </a:xfrm>
          <a:prstGeom prst="line">
            <a:avLst/>
          </a:prstGeom>
          <a:noFill/>
          <a:ln w="19050">
            <a:solidFill>
              <a:srgbClr val="7A1538"/>
            </a:solidFill>
            <a:prstDash val="solid"/>
          </a:ln>
        </p:spPr>
      </p:sp>
      <p:sp>
        <p:nvSpPr>
          <p:cNvPr id="19" name="Shape 17"/>
          <p:cNvSpPr/>
          <p:nvPr/>
        </p:nvSpPr>
        <p:spPr>
          <a:xfrm>
            <a:off x="3108960" y="2514600"/>
            <a:ext cx="0" cy="0"/>
          </a:xfrm>
          <a:prstGeom prst="line">
            <a:avLst/>
          </a:prstGeom>
          <a:noFill/>
          <a:ln w="19050">
            <a:solidFill>
              <a:srgbClr val="7A1538"/>
            </a:solidFill>
            <a:prstDash val="solid"/>
          </a:ln>
        </p:spPr>
      </p:sp>
      <p:sp>
        <p:nvSpPr>
          <p:cNvPr id="20" name="Shape 18"/>
          <p:cNvSpPr/>
          <p:nvPr/>
        </p:nvSpPr>
        <p:spPr>
          <a:xfrm>
            <a:off x="2377440" y="2514600"/>
            <a:ext cx="0" cy="777240"/>
          </a:xfrm>
          <a:prstGeom prst="line">
            <a:avLst/>
          </a:prstGeom>
          <a:noFill/>
          <a:ln w="19050">
            <a:solidFill>
              <a:srgbClr val="7A1538"/>
            </a:solidFill>
            <a:prstDash val="solid"/>
          </a:ln>
        </p:spPr>
      </p:sp>
      <p:sp>
        <p:nvSpPr>
          <p:cNvPr id="21" name="Shape 19"/>
          <p:cNvSpPr/>
          <p:nvPr/>
        </p:nvSpPr>
        <p:spPr>
          <a:xfrm>
            <a:off x="1463040" y="3291840"/>
            <a:ext cx="0" cy="0"/>
          </a:xfrm>
          <a:prstGeom prst="line">
            <a:avLst/>
          </a:prstGeom>
          <a:noFill/>
          <a:ln w="19050">
            <a:solidFill>
              <a:srgbClr val="7A1538"/>
            </a:solidFill>
            <a:prstDash val="solid"/>
          </a:ln>
        </p:spPr>
      </p:sp>
      <p:sp>
        <p:nvSpPr>
          <p:cNvPr id="22" name="Shape 20"/>
          <p:cNvSpPr/>
          <p:nvPr/>
        </p:nvSpPr>
        <p:spPr>
          <a:xfrm>
            <a:off x="2834640" y="3657600"/>
            <a:ext cx="3474720" cy="0"/>
          </a:xfrm>
          <a:prstGeom prst="line">
            <a:avLst/>
          </a:prstGeom>
          <a:noFill/>
          <a:ln w="19050">
            <a:solidFill>
              <a:srgbClr val="7A1538"/>
            </a:solidFill>
            <a:prstDash val="solid"/>
          </a:ln>
        </p:spPr>
      </p:sp>
      <p:sp>
        <p:nvSpPr>
          <p:cNvPr id="23" name="Text 21"/>
          <p:cNvSpPr/>
          <p:nvPr/>
        </p:nvSpPr>
        <p:spPr>
          <a:xfrm>
            <a:off x="3657600" y="3401568"/>
            <a:ext cx="1645920" cy="274320"/>
          </a:xfrm>
          <a:prstGeom prst="rect">
            <a:avLst/>
          </a:prstGeom>
          <a:noFill/>
          <a:ln/>
        </p:spPr>
        <p:txBody>
          <a:bodyPr wrap="square"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Verified Logs</a:t>
            </a:r>
            <a:endParaRPr lang="en-US" sz="800" dirty="0"/>
          </a:p>
        </p:txBody>
      </p:sp>
      <p:sp>
        <p:nvSpPr>
          <p:cNvPr id="24" name="Shape 22"/>
          <p:cNvSpPr/>
          <p:nvPr/>
        </p:nvSpPr>
        <p:spPr>
          <a:xfrm>
            <a:off x="5943600" y="1920240"/>
            <a:ext cx="3017520" cy="640080"/>
          </a:xfrm>
          <a:prstGeom prst="rect">
            <a:avLst/>
          </a:prstGeom>
          <a:solidFill>
            <a:srgbClr val="FFFDE7"/>
          </a:solidFill>
          <a:ln w="12700">
            <a:solidFill>
              <a:srgbClr val="CCBB44"/>
            </a:solidFill>
            <a:prstDash val="solid"/>
          </a:ln>
        </p:spPr>
      </p:sp>
      <p:sp>
        <p:nvSpPr>
          <p:cNvPr id="25" name="Text 23"/>
          <p:cNvSpPr/>
          <p:nvPr/>
        </p:nvSpPr>
        <p:spPr>
          <a:xfrm>
            <a:off x="5989320" y="1938528"/>
            <a:ext cx="2926080" cy="60350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Attackers are isolated in</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the cluster; cannot damage</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the real IoV backbone.</a:t>
            </a:r>
            <a:endParaRPr lang="en-US" sz="900" dirty="0"/>
          </a:p>
        </p:txBody>
      </p:sp>
      <p:sp>
        <p:nvSpPr>
          <p:cNvPr id="26" name="Shape 24"/>
          <p:cNvSpPr/>
          <p:nvPr/>
        </p:nvSpPr>
        <p:spPr>
          <a:xfrm>
            <a:off x="274320" y="4206240"/>
            <a:ext cx="5486400" cy="502920"/>
          </a:xfrm>
          <a:prstGeom prst="rect">
            <a:avLst/>
          </a:prstGeom>
          <a:solidFill>
            <a:srgbClr val="FFFDE7"/>
          </a:solidFill>
          <a:ln w="12700">
            <a:solidFill>
              <a:srgbClr val="CCBB44"/>
            </a:solidFill>
            <a:prstDash val="solid"/>
          </a:ln>
        </p:spPr>
      </p:sp>
      <p:sp>
        <p:nvSpPr>
          <p:cNvPr id="27" name="Text 25"/>
          <p:cNvSpPr/>
          <p:nvPr/>
        </p:nvSpPr>
        <p:spPr>
          <a:xfrm>
            <a:off x="365760" y="4233672"/>
            <a:ext cx="5349240" cy="45720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Even if an attacker gains cluster access, batch auth at RSU ensures forged messages are rejected before propagation.</a:t>
            </a:r>
            <a:endParaRPr lang="en-US" sz="900" dirty="0"/>
          </a:p>
        </p:txBody>
      </p:sp>
      <p:sp>
        <p:nvSpPr>
          <p:cNvPr id="28" name="Shape 26"/>
          <p:cNvSpPr/>
          <p:nvPr/>
        </p:nvSpPr>
        <p:spPr>
          <a:xfrm>
            <a:off x="0" y="4937760"/>
            <a:ext cx="9144000" cy="201168"/>
          </a:xfrm>
          <a:prstGeom prst="rect">
            <a:avLst/>
          </a:prstGeom>
          <a:solidFill>
            <a:srgbClr val="7A1538"/>
          </a:solidFill>
          <a:ln w="12700">
            <a:solidFill>
              <a:srgbClr val="7A1538"/>
            </a:solidFill>
            <a:prstDash val="solid"/>
          </a:ln>
        </p:spPr>
      </p:sp>
      <p:sp>
        <p:nvSpPr>
          <p:cNvPr id="29" name="Text 27"/>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 / 22</a:t>
            </a:r>
            <a:endParaRPr lang="en-US" sz="900" dirty="0"/>
          </a:p>
        </p:txBody>
      </p:sp>
      <p:pic>
        <p:nvPicPr>
          <p:cNvPr id="31" name="Picture 30">
            <a:extLst>
              <a:ext uri="{FF2B5EF4-FFF2-40B4-BE49-F238E27FC236}">
                <a16:creationId xmlns:a16="http://schemas.microsoft.com/office/drawing/2014/main" id="{72EF8D27-9421-81D4-DE93-E18D29CE9804}"/>
              </a:ext>
            </a:extLst>
          </p:cNvPr>
          <p:cNvPicPr>
            <a:picLocks noChangeAspect="1"/>
          </p:cNvPicPr>
          <p:nvPr/>
        </p:nvPicPr>
        <p:blipFill>
          <a:blip r:embed="rId3"/>
          <a:stretch>
            <a:fillRect/>
          </a:stretch>
        </p:blipFill>
        <p:spPr>
          <a:xfrm>
            <a:off x="0" y="685800"/>
            <a:ext cx="9144000" cy="4251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B69A-C335-85EA-AC8C-5A030A2AE246}"/>
            </a:ext>
          </a:extLst>
        </p:cNvPr>
        <p:cNvGrpSpPr/>
        <p:nvPr/>
      </p:nvGrpSpPr>
      <p:grpSpPr>
        <a:xfrm>
          <a:off x="0" y="0"/>
          <a:ext cx="0" cy="0"/>
          <a:chOff x="0" y="0"/>
          <a:chExt cx="0" cy="0"/>
        </a:xfrm>
      </p:grpSpPr>
      <p:sp>
        <p:nvSpPr>
          <p:cNvPr id="2" name="Header">
            <a:extLst>
              <a:ext uri="{FF2B5EF4-FFF2-40B4-BE49-F238E27FC236}">
                <a16:creationId xmlns:a16="http://schemas.microsoft.com/office/drawing/2014/main" id="{0B82462D-39FA-2991-E65C-323484D3A189}"/>
              </a:ext>
            </a:extLst>
          </p:cNvPr>
          <p:cNvSpPr/>
          <p:nvPr/>
        </p:nvSpPr>
        <p:spPr>
          <a:xfrm>
            <a:off x="0" y="0"/>
            <a:ext cx="9144000" cy="685800"/>
          </a:xfrm>
          <a:prstGeom prst="rect">
            <a:avLst/>
          </a:prstGeom>
          <a:solidFill>
            <a:srgbClr val="7A1538"/>
          </a:solidFill>
          <a:ln w="12700">
            <a:solidFill>
              <a:srgbClr val="7A1538"/>
            </a:solidFill>
          </a:ln>
        </p:spPr>
      </p:sp>
      <p:sp>
        <p:nvSpPr>
          <p:cNvPr id="3" name="Title">
            <a:extLst>
              <a:ext uri="{FF2B5EF4-FFF2-40B4-BE49-F238E27FC236}">
                <a16:creationId xmlns:a16="http://schemas.microsoft.com/office/drawing/2014/main" id="{F9F2D6E1-2C5F-416B-5F70-26C2A14CDB19}"/>
              </a:ext>
            </a:extLst>
          </p:cNvPr>
          <p:cNvSpPr/>
          <p:nvPr/>
        </p:nvSpPr>
        <p:spPr>
          <a:xfrm>
            <a:off x="274320" y="0"/>
            <a:ext cx="8686800" cy="685800"/>
          </a:xfrm>
          <a:prstGeom prst="rect">
            <a:avLst/>
          </a:prstGeom>
          <a:noFill/>
          <a:ln/>
        </p:spPr>
        <p:txBody>
          <a:bodyPr wrap="square" rtlCol="0" anchor="ctr"/>
          <a:lstStyle/>
          <a:p>
            <a:r>
              <a:rPr lang="en-US" sz="2500" b="1" dirty="0">
                <a:solidFill>
                  <a:srgbClr val="FFFFFF"/>
                </a:solidFill>
                <a:latin typeface="Calibri" pitchFamily="34" charset="0"/>
              </a:rPr>
              <a:t>Proposed System Modules</a:t>
            </a:r>
          </a:p>
        </p:txBody>
      </p:sp>
      <p:sp>
        <p:nvSpPr>
          <p:cNvPr id="50" name="Footer">
            <a:extLst>
              <a:ext uri="{FF2B5EF4-FFF2-40B4-BE49-F238E27FC236}">
                <a16:creationId xmlns:a16="http://schemas.microsoft.com/office/drawing/2014/main" id="{267B92AB-B874-2263-94A5-18E03B243B8F}"/>
              </a:ext>
            </a:extLst>
          </p:cNvPr>
          <p:cNvSpPr/>
          <p:nvPr/>
        </p:nvSpPr>
        <p:spPr>
          <a:xfrm>
            <a:off x="0" y="4937760"/>
            <a:ext cx="9144000" cy="201168"/>
          </a:xfrm>
          <a:prstGeom prst="rect">
            <a:avLst/>
          </a:prstGeom>
          <a:solidFill>
            <a:srgbClr val="7A1538"/>
          </a:solidFill>
          <a:ln w="12700">
            <a:solidFill>
              <a:srgbClr val="7A1538"/>
            </a:solidFill>
          </a:ln>
        </p:spPr>
        <p:txBody>
          <a:bodyPr/>
          <a:lstStyle/>
          <a:p>
            <a:endParaRPr lang="en-IN" dirty="0"/>
          </a:p>
        </p:txBody>
      </p:sp>
      <p:sp>
        <p:nvSpPr>
          <p:cNvPr id="51" name="PageNum">
            <a:extLst>
              <a:ext uri="{FF2B5EF4-FFF2-40B4-BE49-F238E27FC236}">
                <a16:creationId xmlns:a16="http://schemas.microsoft.com/office/drawing/2014/main" id="{342B3C18-E221-5FD5-1D89-44D43C86693D}"/>
              </a:ext>
            </a:extLst>
          </p:cNvPr>
          <p:cNvSpPr/>
          <p:nvPr/>
        </p:nvSpPr>
        <p:spPr>
          <a:xfrm>
            <a:off x="7589520" y="4937760"/>
            <a:ext cx="1463040" cy="201168"/>
          </a:xfrm>
          <a:prstGeom prst="rect">
            <a:avLst/>
          </a:prstGeom>
          <a:noFill/>
          <a:ln/>
        </p:spPr>
        <p:txBody>
          <a:bodyPr wrap="square" rtlCol="0" anchor="ctr"/>
          <a:lstStyle/>
          <a:p>
            <a:pPr marL="0" indent="0" algn="r">
              <a:buNone/>
            </a:pPr>
            <a:r>
              <a:rPr lang="en-US" sz="1300" dirty="0">
                <a:solidFill>
                  <a:srgbClr val="FFFFFF"/>
                </a:solidFill>
                <a:latin typeface="Calibri" pitchFamily="34" charset="0"/>
              </a:rPr>
              <a:t>17 / 22</a:t>
            </a:r>
          </a:p>
        </p:txBody>
      </p:sp>
      <p:sp>
        <p:nvSpPr>
          <p:cNvPr id="5" name="TextBox 4">
            <a:extLst>
              <a:ext uri="{FF2B5EF4-FFF2-40B4-BE49-F238E27FC236}">
                <a16:creationId xmlns:a16="http://schemas.microsoft.com/office/drawing/2014/main" id="{B28D7271-5F0E-0194-07FB-B362E279B8AB}"/>
              </a:ext>
            </a:extLst>
          </p:cNvPr>
          <p:cNvSpPr txBox="1"/>
          <p:nvPr/>
        </p:nvSpPr>
        <p:spPr>
          <a:xfrm>
            <a:off x="274320" y="930925"/>
            <a:ext cx="3967089" cy="1246495"/>
          </a:xfrm>
          <a:prstGeom prst="rect">
            <a:avLst/>
          </a:prstGeom>
          <a:noFill/>
        </p:spPr>
        <p:txBody>
          <a:bodyPr wrap="square">
            <a:spAutoFit/>
          </a:bodyPr>
          <a:lstStyle/>
          <a:p>
            <a:pPr>
              <a:buNone/>
            </a:pPr>
            <a:r>
              <a:rPr lang="en-IN" sz="1500" b="1" dirty="0"/>
              <a:t>1. Vehicle Layer Module</a:t>
            </a:r>
          </a:p>
          <a:p>
            <a:pPr>
              <a:buFont typeface="Arial" panose="020B0604020202020204" pitchFamily="34" charset="0"/>
              <a:buChar char="•"/>
            </a:pPr>
            <a:r>
              <a:rPr lang="en-IN" sz="1500" dirty="0"/>
              <a:t>Trusted Vehicles (Verified nodes) </a:t>
            </a:r>
          </a:p>
          <a:p>
            <a:pPr>
              <a:buFont typeface="Arial" panose="020B0604020202020204" pitchFamily="34" charset="0"/>
              <a:buChar char="•"/>
            </a:pPr>
            <a:r>
              <a:rPr lang="en-IN" sz="1500" dirty="0"/>
              <a:t>Unknown Vehicles (Unverified) </a:t>
            </a:r>
          </a:p>
          <a:p>
            <a:pPr>
              <a:buFont typeface="Arial" panose="020B0604020202020204" pitchFamily="34" charset="0"/>
              <a:buChar char="•"/>
            </a:pPr>
            <a:r>
              <a:rPr lang="en-IN" sz="1500" dirty="0"/>
              <a:t>Malicious Vehicles (Fake data sources) </a:t>
            </a:r>
          </a:p>
          <a:p>
            <a:pPr>
              <a:buFont typeface="Arial" panose="020B0604020202020204" pitchFamily="34" charset="0"/>
              <a:buChar char="•"/>
            </a:pPr>
            <a:r>
              <a:rPr lang="en-IN" sz="1500" dirty="0"/>
              <a:t>Vehicle Nodes (Input source to system)</a:t>
            </a:r>
          </a:p>
        </p:txBody>
      </p:sp>
      <p:sp>
        <p:nvSpPr>
          <p:cNvPr id="7" name="TextBox 6">
            <a:extLst>
              <a:ext uri="{FF2B5EF4-FFF2-40B4-BE49-F238E27FC236}">
                <a16:creationId xmlns:a16="http://schemas.microsoft.com/office/drawing/2014/main" id="{0F842A53-2D94-0554-5DC3-F4CC8C10D9E3}"/>
              </a:ext>
            </a:extLst>
          </p:cNvPr>
          <p:cNvSpPr txBox="1"/>
          <p:nvPr/>
        </p:nvSpPr>
        <p:spPr>
          <a:xfrm>
            <a:off x="274320" y="2224146"/>
            <a:ext cx="3615397" cy="1015663"/>
          </a:xfrm>
          <a:prstGeom prst="rect">
            <a:avLst/>
          </a:prstGeom>
          <a:noFill/>
        </p:spPr>
        <p:txBody>
          <a:bodyPr wrap="square">
            <a:spAutoFit/>
          </a:bodyPr>
          <a:lstStyle/>
          <a:p>
            <a:pPr>
              <a:buNone/>
            </a:pPr>
            <a:r>
              <a:rPr lang="en-IN" sz="1500" b="1" dirty="0"/>
              <a:t>2. </a:t>
            </a:r>
            <a:r>
              <a:rPr lang="en-IN" sz="1500" b="1" dirty="0" err="1"/>
              <a:t>IoV</a:t>
            </a:r>
            <a:r>
              <a:rPr lang="en-IN" sz="1500" b="1" dirty="0"/>
              <a:t> Communication Module</a:t>
            </a:r>
          </a:p>
          <a:p>
            <a:pPr>
              <a:buFont typeface="Arial" panose="020B0604020202020204" pitchFamily="34" charset="0"/>
              <a:buChar char="•"/>
            </a:pPr>
            <a:r>
              <a:rPr lang="en-IN" sz="1500" dirty="0"/>
              <a:t>Communication framework between vehicles </a:t>
            </a:r>
          </a:p>
          <a:p>
            <a:pPr>
              <a:buFont typeface="Arial" panose="020B0604020202020204" pitchFamily="34" charset="0"/>
              <a:buChar char="•"/>
            </a:pPr>
            <a:r>
              <a:rPr lang="en-IN" sz="1500" dirty="0"/>
              <a:t>Data exchange environment</a:t>
            </a:r>
          </a:p>
        </p:txBody>
      </p:sp>
      <p:sp>
        <p:nvSpPr>
          <p:cNvPr id="9" name="TextBox 8">
            <a:extLst>
              <a:ext uri="{FF2B5EF4-FFF2-40B4-BE49-F238E27FC236}">
                <a16:creationId xmlns:a16="http://schemas.microsoft.com/office/drawing/2014/main" id="{3533F149-6EF9-7B91-F395-18D6F40AF7DD}"/>
              </a:ext>
            </a:extLst>
          </p:cNvPr>
          <p:cNvSpPr txBox="1"/>
          <p:nvPr/>
        </p:nvSpPr>
        <p:spPr>
          <a:xfrm>
            <a:off x="225083" y="3239809"/>
            <a:ext cx="3879166" cy="1708160"/>
          </a:xfrm>
          <a:prstGeom prst="rect">
            <a:avLst/>
          </a:prstGeom>
          <a:noFill/>
        </p:spPr>
        <p:txBody>
          <a:bodyPr wrap="square">
            <a:spAutoFit/>
          </a:bodyPr>
          <a:lstStyle/>
          <a:p>
            <a:pPr>
              <a:buNone/>
            </a:pPr>
            <a:r>
              <a:rPr lang="en-US" sz="1500" b="1" dirty="0"/>
              <a:t>3. Clustering &amp; Broadcast Module</a:t>
            </a:r>
          </a:p>
          <a:p>
            <a:pPr>
              <a:buFont typeface="Arial" panose="020B0604020202020204" pitchFamily="34" charset="0"/>
              <a:buChar char="•"/>
            </a:pPr>
            <a:r>
              <a:rPr lang="en-US" sz="1500" dirty="0"/>
              <a:t>Cluster Formation </a:t>
            </a:r>
          </a:p>
          <a:p>
            <a:pPr>
              <a:buFont typeface="Arial" panose="020B0604020202020204" pitchFamily="34" charset="0"/>
              <a:buChar char="•"/>
            </a:pPr>
            <a:r>
              <a:rPr lang="en-US" sz="1500" dirty="0"/>
              <a:t>Trust Evaluation </a:t>
            </a:r>
          </a:p>
          <a:p>
            <a:pPr>
              <a:buFont typeface="Arial" panose="020B0604020202020204" pitchFamily="34" charset="0"/>
              <a:buChar char="•"/>
            </a:pPr>
            <a:r>
              <a:rPr lang="en-US" sz="1500" dirty="0"/>
              <a:t>Cluster Head Selection </a:t>
            </a:r>
          </a:p>
          <a:p>
            <a:pPr>
              <a:buFont typeface="Arial" panose="020B0604020202020204" pitchFamily="34" charset="0"/>
              <a:buChar char="•"/>
            </a:pPr>
            <a:r>
              <a:rPr lang="en-US" sz="1500" dirty="0"/>
              <a:t>Cluster Head (Leader node) </a:t>
            </a:r>
          </a:p>
          <a:p>
            <a:pPr>
              <a:buFont typeface="Arial" panose="020B0604020202020204" pitchFamily="34" charset="0"/>
              <a:buChar char="•"/>
            </a:pPr>
            <a:r>
              <a:rPr lang="en-US" sz="1500" dirty="0"/>
              <a:t>Duplicate Message Filter </a:t>
            </a:r>
          </a:p>
          <a:p>
            <a:pPr>
              <a:buFont typeface="Arial" panose="020B0604020202020204" pitchFamily="34" charset="0"/>
              <a:buChar char="•"/>
            </a:pPr>
            <a:r>
              <a:rPr lang="en-US" sz="1500" dirty="0"/>
              <a:t>Controlled Broadcast Mechanism</a:t>
            </a:r>
          </a:p>
        </p:txBody>
      </p:sp>
      <p:sp>
        <p:nvSpPr>
          <p:cNvPr id="29" name="TextBox 28">
            <a:extLst>
              <a:ext uri="{FF2B5EF4-FFF2-40B4-BE49-F238E27FC236}">
                <a16:creationId xmlns:a16="http://schemas.microsoft.com/office/drawing/2014/main" id="{C098A374-7831-4905-ED8D-C74BD4AA56F0}"/>
              </a:ext>
            </a:extLst>
          </p:cNvPr>
          <p:cNvSpPr txBox="1"/>
          <p:nvPr/>
        </p:nvSpPr>
        <p:spPr>
          <a:xfrm>
            <a:off x="4760154" y="929808"/>
            <a:ext cx="4579034" cy="784830"/>
          </a:xfrm>
          <a:prstGeom prst="rect">
            <a:avLst/>
          </a:prstGeom>
          <a:noFill/>
        </p:spPr>
        <p:txBody>
          <a:bodyPr wrap="square">
            <a:spAutoFit/>
          </a:bodyPr>
          <a:lstStyle/>
          <a:p>
            <a:pPr>
              <a:buNone/>
            </a:pPr>
            <a:r>
              <a:rPr lang="en-US" sz="1500" b="1" dirty="0"/>
              <a:t>4. V2I Interface Module</a:t>
            </a:r>
          </a:p>
          <a:p>
            <a:pPr>
              <a:buFont typeface="Arial" panose="020B0604020202020204" pitchFamily="34" charset="0"/>
              <a:buChar char="•"/>
            </a:pPr>
            <a:r>
              <a:rPr lang="en-US" sz="1500" dirty="0"/>
              <a:t>Vehicle-to-Infrastructure communication (V2I) </a:t>
            </a:r>
          </a:p>
          <a:p>
            <a:pPr>
              <a:buFont typeface="Arial" panose="020B0604020202020204" pitchFamily="34" charset="0"/>
              <a:buChar char="•"/>
            </a:pPr>
            <a:r>
              <a:rPr lang="en-US" sz="1500" dirty="0"/>
              <a:t>Transfers processed data to RSU</a:t>
            </a:r>
          </a:p>
        </p:txBody>
      </p:sp>
      <p:sp>
        <p:nvSpPr>
          <p:cNvPr id="40" name="TextBox 39">
            <a:extLst>
              <a:ext uri="{FF2B5EF4-FFF2-40B4-BE49-F238E27FC236}">
                <a16:creationId xmlns:a16="http://schemas.microsoft.com/office/drawing/2014/main" id="{6A3272AD-C95D-6856-C45C-9A90942AAB6C}"/>
              </a:ext>
            </a:extLst>
          </p:cNvPr>
          <p:cNvSpPr txBox="1"/>
          <p:nvPr/>
        </p:nvSpPr>
        <p:spPr>
          <a:xfrm>
            <a:off x="4723227" y="1763218"/>
            <a:ext cx="4579034" cy="1015663"/>
          </a:xfrm>
          <a:prstGeom prst="rect">
            <a:avLst/>
          </a:prstGeom>
          <a:noFill/>
        </p:spPr>
        <p:txBody>
          <a:bodyPr wrap="square">
            <a:spAutoFit/>
          </a:bodyPr>
          <a:lstStyle/>
          <a:p>
            <a:pPr>
              <a:buNone/>
            </a:pPr>
            <a:r>
              <a:rPr lang="en-US" sz="1500" b="1" dirty="0"/>
              <a:t>5. RSU Processing Module</a:t>
            </a:r>
          </a:p>
          <a:p>
            <a:pPr>
              <a:buFont typeface="Arial" panose="020B0604020202020204" pitchFamily="34" charset="0"/>
              <a:buChar char="•"/>
            </a:pPr>
            <a:r>
              <a:rPr lang="en-US" sz="1500" dirty="0"/>
              <a:t>Ingress Queue (Message intake) </a:t>
            </a:r>
          </a:p>
          <a:p>
            <a:pPr>
              <a:buFont typeface="Arial" panose="020B0604020202020204" pitchFamily="34" charset="0"/>
              <a:buChar char="•"/>
            </a:pPr>
            <a:r>
              <a:rPr lang="en-US" sz="1500" dirty="0"/>
              <a:t>Batch Authentication (Security check) </a:t>
            </a:r>
          </a:p>
          <a:p>
            <a:pPr>
              <a:buFont typeface="Arial" panose="020B0604020202020204" pitchFamily="34" charset="0"/>
              <a:buChar char="•"/>
            </a:pPr>
            <a:r>
              <a:rPr lang="en-US" sz="1500" dirty="0"/>
              <a:t>Decision Engine (Final filtering &amp; decision making)</a:t>
            </a:r>
          </a:p>
        </p:txBody>
      </p:sp>
      <p:sp>
        <p:nvSpPr>
          <p:cNvPr id="42" name="TextBox 41">
            <a:extLst>
              <a:ext uri="{FF2B5EF4-FFF2-40B4-BE49-F238E27FC236}">
                <a16:creationId xmlns:a16="http://schemas.microsoft.com/office/drawing/2014/main" id="{7448D35C-AB24-CA1C-19A6-0C08D2572150}"/>
              </a:ext>
            </a:extLst>
          </p:cNvPr>
          <p:cNvSpPr txBox="1"/>
          <p:nvPr/>
        </p:nvSpPr>
        <p:spPr>
          <a:xfrm>
            <a:off x="4723227" y="2847394"/>
            <a:ext cx="4652888" cy="784830"/>
          </a:xfrm>
          <a:prstGeom prst="rect">
            <a:avLst/>
          </a:prstGeom>
          <a:noFill/>
        </p:spPr>
        <p:txBody>
          <a:bodyPr wrap="square">
            <a:spAutoFit/>
          </a:bodyPr>
          <a:lstStyle/>
          <a:p>
            <a:pPr>
              <a:buNone/>
            </a:pPr>
            <a:r>
              <a:rPr lang="en-IN" sz="1500" b="1" dirty="0"/>
              <a:t>6. Cloud Intelligence Module</a:t>
            </a:r>
          </a:p>
          <a:p>
            <a:pPr>
              <a:buFont typeface="Arial" panose="020B0604020202020204" pitchFamily="34" charset="0"/>
              <a:buChar char="•"/>
            </a:pPr>
            <a:r>
              <a:rPr lang="en-IN" sz="1500" dirty="0"/>
              <a:t>Trust Updates (Dynamic trust score updates) </a:t>
            </a:r>
          </a:p>
          <a:p>
            <a:pPr>
              <a:buFont typeface="Arial" panose="020B0604020202020204" pitchFamily="34" charset="0"/>
              <a:buChar char="•"/>
            </a:pPr>
            <a:r>
              <a:rPr lang="en-IN" sz="1500" dirty="0"/>
              <a:t>Analytics (Data insights, optimization) </a:t>
            </a:r>
          </a:p>
        </p:txBody>
      </p:sp>
      <p:sp>
        <p:nvSpPr>
          <p:cNvPr id="44" name="TextBox 43">
            <a:extLst>
              <a:ext uri="{FF2B5EF4-FFF2-40B4-BE49-F238E27FC236}">
                <a16:creationId xmlns:a16="http://schemas.microsoft.com/office/drawing/2014/main" id="{1B9B8F33-1733-4F82-D878-6CA9F5BC135B}"/>
              </a:ext>
            </a:extLst>
          </p:cNvPr>
          <p:cNvSpPr txBox="1"/>
          <p:nvPr/>
        </p:nvSpPr>
        <p:spPr>
          <a:xfrm>
            <a:off x="4760154" y="3769249"/>
            <a:ext cx="4691574" cy="1015663"/>
          </a:xfrm>
          <a:prstGeom prst="rect">
            <a:avLst/>
          </a:prstGeom>
          <a:noFill/>
        </p:spPr>
        <p:txBody>
          <a:bodyPr wrap="square">
            <a:spAutoFit/>
          </a:bodyPr>
          <a:lstStyle/>
          <a:p>
            <a:pPr>
              <a:buNone/>
            </a:pPr>
            <a:r>
              <a:rPr lang="en-US" sz="1500" b="1" dirty="0"/>
              <a:t>7. Dissemination Module</a:t>
            </a:r>
          </a:p>
          <a:p>
            <a:pPr>
              <a:buFont typeface="Arial" panose="020B0604020202020204" pitchFamily="34" charset="0"/>
              <a:buChar char="•"/>
            </a:pPr>
            <a:r>
              <a:rPr lang="en-US" sz="1500" dirty="0"/>
              <a:t>Sends processed alerts to: </a:t>
            </a:r>
          </a:p>
          <a:p>
            <a:pPr marL="742950" lvl="1" indent="-285750">
              <a:buFont typeface="Arial" panose="020B0604020202020204" pitchFamily="34" charset="0"/>
              <a:buChar char="•"/>
            </a:pPr>
            <a:r>
              <a:rPr lang="en-US" sz="1500" dirty="0"/>
              <a:t>Vehicles </a:t>
            </a:r>
          </a:p>
          <a:p>
            <a:pPr marL="742950" lvl="1" indent="-285750">
              <a:buFont typeface="Arial" panose="020B0604020202020204" pitchFamily="34" charset="0"/>
              <a:buChar char="•"/>
            </a:pPr>
            <a:r>
              <a:rPr lang="en-US" sz="1500" dirty="0"/>
              <a:t>Traffic Control Center</a:t>
            </a:r>
          </a:p>
        </p:txBody>
      </p:sp>
    </p:spTree>
    <p:extLst>
      <p:ext uri="{BB962C8B-B14F-4D97-AF65-F5344CB8AC3E}">
        <p14:creationId xmlns:p14="http://schemas.microsoft.com/office/powerpoint/2010/main" val="115526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Probable Algorithms We Might Use</a:t>
            </a:r>
            <a:endParaRPr lang="en-US" sz="2200" dirty="0"/>
          </a:p>
        </p:txBody>
      </p:sp>
      <p:sp>
        <p:nvSpPr>
          <p:cNvPr id="4" name="Text 2"/>
          <p:cNvSpPr/>
          <p:nvPr/>
        </p:nvSpPr>
        <p:spPr>
          <a:xfrm>
            <a:off x="365760" y="777240"/>
            <a:ext cx="8412480" cy="36576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Our framework integrates two foundational technologies to ensure trustworthy forwarding and scalable authentication:</a:t>
            </a:r>
            <a:endParaRPr lang="en-US" sz="1250" dirty="0"/>
          </a:p>
        </p:txBody>
      </p:sp>
      <p:sp>
        <p:nvSpPr>
          <p:cNvPr id="5" name="Shape 3"/>
          <p:cNvSpPr/>
          <p:nvPr/>
        </p:nvSpPr>
        <p:spPr>
          <a:xfrm>
            <a:off x="274320" y="1207008"/>
            <a:ext cx="8595360" cy="365760"/>
          </a:xfrm>
          <a:prstGeom prst="rect">
            <a:avLst/>
          </a:prstGeom>
          <a:solidFill>
            <a:srgbClr val="7A1538"/>
          </a:solidFill>
          <a:ln w="12700">
            <a:solidFill>
              <a:srgbClr val="7A1538"/>
            </a:solidFill>
            <a:prstDash val="solid"/>
          </a:ln>
        </p:spPr>
      </p:sp>
      <p:sp>
        <p:nvSpPr>
          <p:cNvPr id="6" name="Text 4"/>
          <p:cNvSpPr/>
          <p:nvPr/>
        </p:nvSpPr>
        <p:spPr>
          <a:xfrm>
            <a:off x="365760" y="1207008"/>
            <a:ext cx="8412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Trust-Aware Cluster Head Selection</a:t>
            </a:r>
            <a:endParaRPr lang="en-US" sz="1400" dirty="0"/>
          </a:p>
        </p:txBody>
      </p:sp>
      <p:pic>
        <p:nvPicPr>
          <p:cNvPr id="7" name="Image 0" descr="preencoded.png"/>
          <p:cNvPicPr>
            <a:picLocks noChangeAspect="1"/>
          </p:cNvPicPr>
          <p:nvPr/>
        </p:nvPicPr>
        <p:blipFill>
          <a:blip r:embed="rId3"/>
          <a:stretch>
            <a:fillRect/>
          </a:stretch>
        </p:blipFill>
        <p:spPr>
          <a:xfrm>
            <a:off x="411480" y="1847088"/>
            <a:ext cx="347472" cy="347472"/>
          </a:xfrm>
          <a:prstGeom prst="rect">
            <a:avLst/>
          </a:prstGeom>
        </p:spPr>
      </p:pic>
      <p:sp>
        <p:nvSpPr>
          <p:cNvPr id="8" name="Text 5"/>
          <p:cNvSpPr/>
          <p:nvPr/>
        </p:nvSpPr>
        <p:spPr>
          <a:xfrm>
            <a:off x="914400" y="1709928"/>
            <a:ext cx="7955280" cy="694944"/>
          </a:xfrm>
          <a:prstGeom prst="rect">
            <a:avLst/>
          </a:prstGeom>
          <a:noFill/>
          <a:ln/>
        </p:spPr>
        <p:txBody>
          <a:bodyPr wrap="square" rtlCol="0" anchor="ctr"/>
          <a:lstStyle/>
          <a:p>
            <a:pPr marL="0" indent="0">
              <a:buNone/>
            </a:pPr>
            <a:r>
              <a:rPr lang="en-US" sz="1200" b="1" dirty="0">
                <a:solidFill>
                  <a:srgbClr val="7A1538"/>
                </a:solidFill>
                <a:latin typeface="Calibri" pitchFamily="34" charset="0"/>
                <a:ea typeface="Calibri" pitchFamily="34" charset="-122"/>
                <a:cs typeface="Calibri" pitchFamily="34" charset="-120"/>
              </a:rPr>
              <a:t>Hybrid Trust Scoring (Historical + Direct + Feedback): </a:t>
            </a:r>
            <a:r>
              <a:rPr lang="en-US" sz="1200" dirty="0">
                <a:solidFill>
                  <a:srgbClr val="333333"/>
                </a:solidFill>
                <a:latin typeface="Calibri" pitchFamily="34" charset="0"/>
                <a:ea typeface="Calibri" pitchFamily="34" charset="-122"/>
                <a:cs typeface="Calibri" pitchFamily="34" charset="-120"/>
              </a:rPr>
              <a:t>Each vehicle's trust is computed from historical interactions, direct communication success rate, and trust certificate data from the RSU — preventing malicious nodes from accumulating influence.</a:t>
            </a:r>
            <a:endParaRPr lang="en-US" sz="1200" dirty="0"/>
          </a:p>
        </p:txBody>
      </p:sp>
      <p:pic>
        <p:nvPicPr>
          <p:cNvPr id="9" name="Image 1" descr="preencoded.png"/>
          <p:cNvPicPr>
            <a:picLocks noChangeAspect="1"/>
          </p:cNvPicPr>
          <p:nvPr/>
        </p:nvPicPr>
        <p:blipFill>
          <a:blip r:embed="rId4"/>
          <a:stretch>
            <a:fillRect/>
          </a:stretch>
        </p:blipFill>
        <p:spPr>
          <a:xfrm>
            <a:off x="411480" y="2651760"/>
            <a:ext cx="347472" cy="347472"/>
          </a:xfrm>
          <a:prstGeom prst="rect">
            <a:avLst/>
          </a:prstGeom>
        </p:spPr>
      </p:pic>
      <p:sp>
        <p:nvSpPr>
          <p:cNvPr id="10" name="Text 6"/>
          <p:cNvSpPr/>
          <p:nvPr/>
        </p:nvSpPr>
        <p:spPr>
          <a:xfrm>
            <a:off x="914400" y="2514600"/>
            <a:ext cx="7955280" cy="694944"/>
          </a:xfrm>
          <a:prstGeom prst="rect">
            <a:avLst/>
          </a:prstGeom>
          <a:noFill/>
          <a:ln/>
        </p:spPr>
        <p:txBody>
          <a:bodyPr wrap="square" rtlCol="0" anchor="ctr"/>
          <a:lstStyle/>
          <a:p>
            <a:pPr marL="0" indent="0">
              <a:buNone/>
            </a:pPr>
            <a:r>
              <a:rPr lang="en-US" sz="1200" b="1" dirty="0">
                <a:solidFill>
                  <a:srgbClr val="7A1538"/>
                </a:solidFill>
                <a:latin typeface="Calibri" pitchFamily="34" charset="0"/>
                <a:ea typeface="Calibri" pitchFamily="34" charset="-122"/>
                <a:cs typeface="Calibri" pitchFamily="34" charset="-120"/>
              </a:rPr>
              <a:t>Trust-Weighted CH Election: </a:t>
            </a:r>
            <a:r>
              <a:rPr lang="en-US" sz="1200" dirty="0">
                <a:solidFill>
                  <a:srgbClr val="333333"/>
                </a:solidFill>
                <a:latin typeface="Calibri" pitchFamily="34" charset="0"/>
                <a:ea typeface="Calibri" pitchFamily="34" charset="-122"/>
                <a:cs typeface="Calibri" pitchFamily="34" charset="-120"/>
              </a:rPr>
              <a:t>RSU selects cluster heads using O(log₂N) algorithm that weights both mobility metrics and trust scores. Only vehicles above a trust threshold are eligible for CH selection, blocking rogue forwarders at source.</a:t>
            </a:r>
            <a:endParaRPr lang="en-US" sz="1200" dirty="0"/>
          </a:p>
        </p:txBody>
      </p:sp>
      <p:sp>
        <p:nvSpPr>
          <p:cNvPr id="11" name="Shape 7"/>
          <p:cNvSpPr/>
          <p:nvPr/>
        </p:nvSpPr>
        <p:spPr>
          <a:xfrm>
            <a:off x="274320" y="3310128"/>
            <a:ext cx="8595360" cy="365760"/>
          </a:xfrm>
          <a:prstGeom prst="rect">
            <a:avLst/>
          </a:prstGeom>
          <a:solidFill>
            <a:srgbClr val="7A1538"/>
          </a:solidFill>
          <a:ln w="12700">
            <a:solidFill>
              <a:srgbClr val="7A1538"/>
            </a:solidFill>
            <a:prstDash val="solid"/>
          </a:ln>
        </p:spPr>
      </p:sp>
      <p:sp>
        <p:nvSpPr>
          <p:cNvPr id="12" name="Text 8"/>
          <p:cNvSpPr/>
          <p:nvPr/>
        </p:nvSpPr>
        <p:spPr>
          <a:xfrm>
            <a:off x="365760" y="3310128"/>
            <a:ext cx="8412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 RSU-Level Batch Authentication</a:t>
            </a:r>
            <a:endParaRPr lang="en-US" sz="1400" dirty="0"/>
          </a:p>
        </p:txBody>
      </p:sp>
      <p:pic>
        <p:nvPicPr>
          <p:cNvPr id="13" name="Image 2" descr="preencoded.png"/>
          <p:cNvPicPr>
            <a:picLocks noChangeAspect="1"/>
          </p:cNvPicPr>
          <p:nvPr/>
        </p:nvPicPr>
        <p:blipFill>
          <a:blip r:embed="rId5"/>
          <a:stretch>
            <a:fillRect/>
          </a:stretch>
        </p:blipFill>
        <p:spPr>
          <a:xfrm>
            <a:off x="411480" y="3794760"/>
            <a:ext cx="347472" cy="347472"/>
          </a:xfrm>
          <a:prstGeom prst="rect">
            <a:avLst/>
          </a:prstGeom>
        </p:spPr>
      </p:pic>
      <p:sp>
        <p:nvSpPr>
          <p:cNvPr id="14" name="Text 9"/>
          <p:cNvSpPr/>
          <p:nvPr/>
        </p:nvSpPr>
        <p:spPr>
          <a:xfrm>
            <a:off x="914400" y="3749040"/>
            <a:ext cx="7955280" cy="685800"/>
          </a:xfrm>
          <a:prstGeom prst="rect">
            <a:avLst/>
          </a:prstGeom>
          <a:noFill/>
          <a:ln/>
        </p:spPr>
        <p:txBody>
          <a:bodyPr wrap="square" rtlCol="0" anchor="ctr"/>
          <a:lstStyle/>
          <a:p>
            <a:pPr marL="0" indent="0">
              <a:buNone/>
            </a:pPr>
            <a:r>
              <a:rPr lang="en-US" sz="1200" b="1" dirty="0">
                <a:solidFill>
                  <a:srgbClr val="7A1538"/>
                </a:solidFill>
                <a:latin typeface="Calibri" pitchFamily="34" charset="0"/>
                <a:ea typeface="Calibri" pitchFamily="34" charset="-122"/>
                <a:cs typeface="Calibri" pitchFamily="34" charset="-120"/>
              </a:rPr>
              <a:t>Scalable Group Verification: </a:t>
            </a:r>
            <a:r>
              <a:rPr lang="en-US" sz="1200" dirty="0">
                <a:solidFill>
                  <a:srgbClr val="333333"/>
                </a:solidFill>
                <a:latin typeface="Calibri" pitchFamily="34" charset="0"/>
                <a:ea typeface="Calibri" pitchFamily="34" charset="-122"/>
                <a:cs typeface="Calibri" pitchFamily="34" charset="-120"/>
              </a:rPr>
              <a:t>RSUs batch-verify digital signatures from multiple cluster head messages in a single cryptographic operation, reducing authentication latency by orders of magnitude compared to per-message verification.</a:t>
            </a:r>
            <a:endParaRPr lang="en-US" sz="1200" dirty="0"/>
          </a:p>
        </p:txBody>
      </p:sp>
      <p:sp>
        <p:nvSpPr>
          <p:cNvPr id="15" name="Shape 10"/>
          <p:cNvSpPr/>
          <p:nvPr/>
        </p:nvSpPr>
        <p:spPr>
          <a:xfrm>
            <a:off x="0" y="4937760"/>
            <a:ext cx="9144000" cy="201168"/>
          </a:xfrm>
          <a:prstGeom prst="rect">
            <a:avLst/>
          </a:prstGeom>
          <a:solidFill>
            <a:srgbClr val="7A1538"/>
          </a:solidFill>
          <a:ln w="12700">
            <a:solidFill>
              <a:srgbClr val="7A1538"/>
            </a:solidFill>
            <a:prstDash val="solid"/>
          </a:ln>
        </p:spPr>
      </p:sp>
      <p:sp>
        <p:nvSpPr>
          <p:cNvPr id="16" name="Text 11"/>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15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Probable Algorithms We Might Use</a:t>
            </a:r>
            <a:endParaRPr lang="en-US" sz="2400" dirty="0"/>
          </a:p>
        </p:txBody>
      </p:sp>
      <p:graphicFrame>
        <p:nvGraphicFramePr>
          <p:cNvPr id="10" name="Table 9"/>
          <p:cNvGraphicFramePr>
            <a:graphicFrameLocks noGrp="1"/>
          </p:cNvGraphicFramePr>
          <p:nvPr>
            <p:extLst>
              <p:ext uri="{D42A27DB-BD31-4B8C-83A1-F6EECF244321}">
                <p14:modId xmlns:p14="http://schemas.microsoft.com/office/powerpoint/2010/main" val="3643350032"/>
              </p:ext>
            </p:extLst>
          </p:nvPr>
        </p:nvGraphicFramePr>
        <p:xfrm>
          <a:off x="182880" y="762000"/>
          <a:ext cx="8778240" cy="410464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548640">
                <a:tc>
                  <a:txBody>
                    <a:bodyPr/>
                    <a:lstStyle/>
                    <a:p>
                      <a:pPr algn="ctr">
                        <a:buNone/>
                      </a:pPr>
                      <a:r>
                        <a:rPr lang="en-US" sz="1000" b="1" dirty="0">
                          <a:solidFill>
                            <a:srgbClr val="FFFFFF"/>
                          </a:solidFill>
                          <a:latin typeface="Calibri" pitchFamily="34" charset="0"/>
                        </a:rPr>
                        <a:t>Algorithm</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tc>
                  <a:txBody>
                    <a:bodyPr/>
                    <a:lstStyle/>
                    <a:p>
                      <a:pPr algn="ctr">
                        <a:buNone/>
                      </a:pPr>
                      <a:r>
                        <a:rPr lang="en-US" sz="1000" b="1" dirty="0">
                          <a:solidFill>
                            <a:srgbClr val="FFFFFF"/>
                          </a:solidFill>
                          <a:latin typeface="Calibri" pitchFamily="34" charset="0"/>
                        </a:rPr>
                        <a:t>Layer Used</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tc>
                  <a:txBody>
                    <a:bodyPr/>
                    <a:lstStyle/>
                    <a:p>
                      <a:pPr algn="ctr">
                        <a:buNone/>
                      </a:pPr>
                      <a:r>
                        <a:rPr lang="en-US" sz="1000" b="1" dirty="0">
                          <a:solidFill>
                            <a:srgbClr val="FFFFFF"/>
                          </a:solidFill>
                          <a:latin typeface="Calibri" pitchFamily="34" charset="0"/>
                        </a:rPr>
                        <a:t>Purpose</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tc>
                  <a:txBody>
                    <a:bodyPr/>
                    <a:lstStyle/>
                    <a:p>
                      <a:pPr algn="ctr">
                        <a:buNone/>
                      </a:pPr>
                      <a:r>
                        <a:rPr lang="en-US" sz="1000" b="1" dirty="0">
                          <a:solidFill>
                            <a:srgbClr val="FFFFFF"/>
                          </a:solidFill>
                          <a:latin typeface="Calibri" pitchFamily="34" charset="0"/>
                        </a:rPr>
                        <a:t>Parameters (Inputs)</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tc>
                  <a:txBody>
                    <a:bodyPr/>
                    <a:lstStyle/>
                    <a:p>
                      <a:pPr algn="ctr">
                        <a:buNone/>
                      </a:pPr>
                      <a:r>
                        <a:rPr lang="en-US" sz="1000" b="1" dirty="0">
                          <a:solidFill>
                            <a:srgbClr val="FFFFFF"/>
                          </a:solidFill>
                          <a:latin typeface="Calibri" pitchFamily="34" charset="0"/>
                        </a:rPr>
                        <a:t>Output</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tc>
                  <a:txBody>
                    <a:bodyPr/>
                    <a:lstStyle/>
                    <a:p>
                      <a:pPr algn="ctr">
                        <a:buNone/>
                      </a:pPr>
                      <a:r>
                        <a:rPr lang="en-US" sz="1000" b="1" dirty="0">
                          <a:solidFill>
                            <a:srgbClr val="FFFFFF"/>
                          </a:solidFill>
                          <a:latin typeface="Calibri" pitchFamily="34" charset="0"/>
                        </a:rPr>
                        <a:t>Core Idea</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tc>
                  <a:txBody>
                    <a:bodyPr/>
                    <a:lstStyle/>
                    <a:p>
                      <a:pPr algn="ctr">
                        <a:buNone/>
                      </a:pPr>
                      <a:r>
                        <a:rPr lang="en-US" sz="1000" b="1" dirty="0">
                          <a:solidFill>
                            <a:srgbClr val="FFFFFF"/>
                          </a:solidFill>
                          <a:latin typeface="Calibri" pitchFamily="34" charset="0"/>
                        </a:rPr>
                        <a:t>Why Best for IoV/VANET</a:t>
                      </a:r>
                    </a:p>
                  </a:txBody>
                  <a:tcPr marL="38100" marR="38100" marT="19050" marB="19050" anchor="ctr">
                    <a:lnL w="9525">
                      <a:solidFill>
                        <a:srgbClr val="FFFFFF"/>
                      </a:solidFill>
                    </a:lnL>
                    <a:lnR w="9525">
                      <a:solidFill>
                        <a:srgbClr val="FFFFFF"/>
                      </a:solidFill>
                    </a:lnR>
                    <a:lnT w="9525">
                      <a:solidFill>
                        <a:srgbClr val="FFFFFF"/>
                      </a:solidFill>
                    </a:lnT>
                    <a:lnB w="9525">
                      <a:solidFill>
                        <a:srgbClr val="FFFFFF"/>
                      </a:solidFill>
                    </a:lnB>
                    <a:solidFill>
                      <a:srgbClr val="7A1538"/>
                    </a:solidFill>
                  </a:tcPr>
                </a:tc>
                <a:extLst>
                  <a:ext uri="{0D108BD9-81ED-4DB2-BD59-A6C34878D82A}">
                    <a16:rowId xmlns:a16="http://schemas.microsoft.com/office/drawing/2014/main" val="10000"/>
                  </a:ext>
                </a:extLst>
              </a:tr>
              <a:tr h="889000">
                <a:tc>
                  <a:txBody>
                    <a:bodyPr/>
                    <a:lstStyle/>
                    <a:p>
                      <a:pPr algn="ctr">
                        <a:buNone/>
                      </a:pPr>
                      <a:r>
                        <a:rPr lang="en-US" sz="950" b="1" dirty="0">
                          <a:solidFill>
                            <a:srgbClr val="7A1538"/>
                          </a:solidFill>
                          <a:latin typeface="Calibri" pitchFamily="34" charset="0"/>
                        </a:rPr>
                        <a:t>DBSCAN</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Clustering Layer</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Group vehicles into clusters</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Position (x,y), ε radius, MinPts</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Clusters + Noise nodes</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Density-based grouping</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No predefined clusters; handles dynamic density; detects isolated vehicles</a:t>
                      </a:r>
                    </a:p>
                  </a:txBody>
                  <a:tcPr marL="38100" marR="38100" marT="19050" marB="19050" anchor="ctr">
                    <a:lnL w="9525">
                      <a:solidFill>
                        <a:srgbClr val="C9B3BC"/>
                      </a:solidFill>
                    </a:lnL>
                    <a:lnR w="9525">
                      <a:solidFill>
                        <a:srgbClr val="C9B3BC"/>
                      </a:solidFill>
                    </a:lnR>
                    <a:lnT w="9525" cap="flat" cmpd="sng" algn="ctr">
                      <a:solidFill>
                        <a:srgbClr val="FFFFFF"/>
                      </a:solidFill>
                      <a:prstDash val="solid"/>
                      <a:round/>
                      <a:headEnd type="none" w="med" len="med"/>
                      <a:tailEnd type="none" w="med" len="med"/>
                    </a:lnT>
                    <a:lnB w="9525">
                      <a:solidFill>
                        <a:srgbClr val="C9B3BC"/>
                      </a:solidFill>
                    </a:lnB>
                    <a:solidFill>
                      <a:srgbClr val="F5EFF1"/>
                    </a:solidFill>
                  </a:tcPr>
                </a:tc>
                <a:extLst>
                  <a:ext uri="{0D108BD9-81ED-4DB2-BD59-A6C34878D82A}">
                    <a16:rowId xmlns:a16="http://schemas.microsoft.com/office/drawing/2014/main" val="10001"/>
                  </a:ext>
                </a:extLst>
              </a:tr>
              <a:tr h="889000">
                <a:tc>
                  <a:txBody>
                    <a:bodyPr/>
                    <a:lstStyle/>
                    <a:p>
                      <a:pPr algn="ctr">
                        <a:buNone/>
                      </a:pPr>
                      <a:r>
                        <a:rPr lang="en-US" sz="950" b="1" dirty="0">
                          <a:solidFill>
                            <a:srgbClr val="7A1538"/>
                          </a:solidFill>
                          <a:latin typeface="Calibri" pitchFamily="34" charset="0"/>
                        </a:rPr>
                        <a:t>Weighted Trust Model</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Clustering Layer (inside cluster)</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Evaluate vehicle reliability</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Direct, Historical, Feedback Trust; Weights w1, w2, w3</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Trust score (0–1)</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Weighted combination of trust factors</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Lightweight, real-time; suitable for dynamic VANET</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extLst>
                  <a:ext uri="{0D108BD9-81ED-4DB2-BD59-A6C34878D82A}">
                    <a16:rowId xmlns:a16="http://schemas.microsoft.com/office/drawing/2014/main" val="10002"/>
                  </a:ext>
                </a:extLst>
              </a:tr>
              <a:tr h="889000">
                <a:tc>
                  <a:txBody>
                    <a:bodyPr/>
                    <a:lstStyle/>
                    <a:p>
                      <a:pPr algn="ctr">
                        <a:buNone/>
                      </a:pPr>
                      <a:r>
                        <a:rPr lang="en-US" sz="950" b="1" dirty="0">
                          <a:solidFill>
                            <a:srgbClr val="7A1538"/>
                          </a:solidFill>
                          <a:latin typeface="Calibri" pitchFamily="34" charset="0"/>
                        </a:rPr>
                        <a:t>BLS Batch Authentication</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RSU Layer</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Verify multiple messages securely</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Messages (Mi), Signatures (Si), Public Keys (PKi), Batch Size (n)</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Valid / Invalid batch result</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Aggregate &amp; verify in one step</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tc>
                  <a:txBody>
                    <a:bodyPr/>
                    <a:lstStyle/>
                    <a:p>
                      <a:pPr>
                        <a:buNone/>
                      </a:pPr>
                      <a:r>
                        <a:rPr lang="en-US" sz="900" dirty="0">
                          <a:solidFill>
                            <a:srgbClr val="333333"/>
                          </a:solidFill>
                          <a:latin typeface="Calibri" pitchFamily="34" charset="0"/>
                        </a:rPr>
                        <a:t>Reduces auth delay; scalable for high-density traffic</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5EFF1"/>
                    </a:solidFill>
                  </a:tcPr>
                </a:tc>
                <a:extLst>
                  <a:ext uri="{0D108BD9-81ED-4DB2-BD59-A6C34878D82A}">
                    <a16:rowId xmlns:a16="http://schemas.microsoft.com/office/drawing/2014/main" val="10003"/>
                  </a:ext>
                </a:extLst>
              </a:tr>
              <a:tr h="889000">
                <a:tc>
                  <a:txBody>
                    <a:bodyPr/>
                    <a:lstStyle/>
                    <a:p>
                      <a:pPr algn="ctr">
                        <a:buNone/>
                      </a:pPr>
                      <a:r>
                        <a:rPr lang="en-US" sz="950" b="1" dirty="0">
                          <a:solidFill>
                            <a:srgbClr val="7A1538"/>
                          </a:solidFill>
                          <a:latin typeface="Calibri" pitchFamily="34" charset="0"/>
                        </a:rPr>
                        <a:t>Kalman Filter</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Traffic Analysis (Vehicle/Cloud/RSU)</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Predict traffic state &amp; detect anomalies</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Position, Speed, Previous state, Process &amp; Measurement noise</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Estimated traffic condition</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Prediction + correction model</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tc>
                  <a:txBody>
                    <a:bodyPr/>
                    <a:lstStyle/>
                    <a:p>
                      <a:pPr>
                        <a:buNone/>
                      </a:pPr>
                      <a:r>
                        <a:rPr lang="en-US" sz="900" dirty="0">
                          <a:solidFill>
                            <a:srgbClr val="333333"/>
                          </a:solidFill>
                          <a:latin typeface="Calibri" pitchFamily="34" charset="0"/>
                        </a:rPr>
                        <a:t>Handles noisy data; real-time traffic estimation &amp; anomaly detection</a:t>
                      </a:r>
                    </a:p>
                  </a:txBody>
                  <a:tcPr marL="38100" marR="38100" marT="19050" marB="19050" anchor="ctr">
                    <a:lnL w="9525">
                      <a:solidFill>
                        <a:srgbClr val="C9B3BC"/>
                      </a:solidFill>
                    </a:lnL>
                    <a:lnR w="9525">
                      <a:solidFill>
                        <a:srgbClr val="C9B3BC"/>
                      </a:solidFill>
                    </a:lnR>
                    <a:lnT w="9525">
                      <a:solidFill>
                        <a:srgbClr val="C9B3BC"/>
                      </a:solidFill>
                    </a:lnT>
                    <a:lnB w="9525">
                      <a:solidFill>
                        <a:srgbClr val="C9B3BC"/>
                      </a:solidFill>
                    </a:lnB>
                    <a:solidFill>
                      <a:srgbClr val="FFFFFF"/>
                    </a:solidFill>
                  </a:tcPr>
                </a:tc>
                <a:extLst>
                  <a:ext uri="{0D108BD9-81ED-4DB2-BD59-A6C34878D82A}">
                    <a16:rowId xmlns:a16="http://schemas.microsoft.com/office/drawing/2014/main" val="10004"/>
                  </a:ext>
                </a:extLst>
              </a:tr>
            </a:tbl>
          </a:graphicData>
        </a:graphic>
      </p:graphicFrame>
      <p:sp>
        <p:nvSpPr>
          <p:cNvPr id="20" name="Shape 18"/>
          <p:cNvSpPr/>
          <p:nvPr/>
        </p:nvSpPr>
        <p:spPr>
          <a:xfrm>
            <a:off x="0" y="4937760"/>
            <a:ext cx="9144000" cy="201168"/>
          </a:xfrm>
          <a:prstGeom prst="rect">
            <a:avLst/>
          </a:prstGeom>
          <a:solidFill>
            <a:srgbClr val="7A1538"/>
          </a:solidFill>
          <a:ln w="12700">
            <a:solidFill>
              <a:srgbClr val="7A1538"/>
            </a:solidFill>
            <a:prstDash val="solid"/>
          </a:ln>
        </p:spPr>
      </p:sp>
      <p:sp>
        <p:nvSpPr>
          <p:cNvPr id="21" name="Text 19"/>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rPr>
              <a:t>16 /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cNvSpPr/>
          <p:nvPr/>
        </p:nvSpPr>
        <p:spPr>
          <a:xfrm>
            <a:off x="0" y="0"/>
            <a:ext cx="9144000" cy="685800"/>
          </a:xfrm>
          <a:prstGeom prst="rect">
            <a:avLst/>
          </a:prstGeom>
          <a:solidFill>
            <a:srgbClr val="7A1538"/>
          </a:solidFill>
          <a:ln w="12700">
            <a:solidFill>
              <a:srgbClr val="7A1538"/>
            </a:solidFill>
          </a:ln>
        </p:spPr>
      </p:sp>
      <p:sp>
        <p:nvSpPr>
          <p:cNvPr id="3" name="Title"/>
          <p:cNvSpPr/>
          <p:nvPr/>
        </p:nvSpPr>
        <p:spPr>
          <a:xfrm>
            <a:off x="274320" y="0"/>
            <a:ext cx="8686800" cy="685800"/>
          </a:xfrm>
          <a:prstGeom prst="rect">
            <a:avLst/>
          </a:prstGeom>
          <a:noFill/>
          <a:ln/>
        </p:spPr>
        <p:txBody>
          <a:bodyPr wrap="square" rtlCol="0" anchor="ctr"/>
          <a:lstStyle/>
          <a:p>
            <a:r>
              <a:rPr lang="en-US" sz="2500" b="1" dirty="0">
                <a:solidFill>
                  <a:srgbClr val="FFFFFF"/>
                </a:solidFill>
                <a:latin typeface="Calibri" pitchFamily="34" charset="0"/>
              </a:rPr>
              <a:t>Simulation Environment &amp; Planning</a:t>
            </a:r>
          </a:p>
        </p:txBody>
      </p:sp>
      <p:sp>
        <p:nvSpPr>
          <p:cNvPr id="10" name="C1BG"/>
          <p:cNvSpPr/>
          <p:nvPr/>
        </p:nvSpPr>
        <p:spPr>
          <a:xfrm>
            <a:off x="228600" y="800100"/>
            <a:ext cx="2743200" cy="3657600"/>
          </a:xfrm>
          <a:prstGeom prst="rect">
            <a:avLst/>
          </a:prstGeom>
          <a:solidFill>
            <a:srgbClr val="F5EFF1"/>
          </a:solidFill>
          <a:ln w="19050">
            <a:solidFill>
              <a:srgbClr val="7A1538"/>
            </a:solidFill>
          </a:ln>
        </p:spPr>
      </p:sp>
      <p:sp>
        <p:nvSpPr>
          <p:cNvPr id="11" name="C1Bar"/>
          <p:cNvSpPr/>
          <p:nvPr/>
        </p:nvSpPr>
        <p:spPr>
          <a:xfrm>
            <a:off x="228600" y="800100"/>
            <a:ext cx="2743200" cy="182880"/>
          </a:xfrm>
          <a:prstGeom prst="rect">
            <a:avLst/>
          </a:prstGeom>
          <a:solidFill>
            <a:srgbClr val="7A1538"/>
          </a:solidFill>
          <a:ln>
            <a:noFill/>
          </a:ln>
        </p:spPr>
      </p:sp>
      <p:sp>
        <p:nvSpPr>
          <p:cNvPr id="12" name="C1Name"/>
          <p:cNvSpPr/>
          <p:nvPr/>
        </p:nvSpPr>
        <p:spPr>
          <a:xfrm>
            <a:off x="274320" y="1051560"/>
            <a:ext cx="2651760" cy="41148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NGSIM</a:t>
            </a:r>
          </a:p>
        </p:txBody>
      </p:sp>
      <p:sp>
        <p:nvSpPr>
          <p:cNvPr id="13" name="C1Div1"/>
          <p:cNvSpPr/>
          <p:nvPr/>
        </p:nvSpPr>
        <p:spPr>
          <a:xfrm>
            <a:off x="365760" y="1508760"/>
            <a:ext cx="2468880" cy="19050"/>
          </a:xfrm>
          <a:prstGeom prst="rect">
            <a:avLst/>
          </a:prstGeom>
          <a:solidFill>
            <a:srgbClr val="C9B3BC"/>
          </a:solidFill>
          <a:ln>
            <a:noFill/>
          </a:ln>
        </p:spPr>
      </p:sp>
      <p:sp>
        <p:nvSpPr>
          <p:cNvPr id="14" name="C1TL"/>
          <p:cNvSpPr/>
          <p:nvPr/>
        </p:nvSpPr>
        <p:spPr>
          <a:xfrm>
            <a:off x="274320" y="1554480"/>
            <a:ext cx="2651760" cy="27432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TYPE</a:t>
            </a:r>
          </a:p>
        </p:txBody>
      </p:sp>
      <p:sp>
        <p:nvSpPr>
          <p:cNvPr id="15" name="C1TV"/>
          <p:cNvSpPr/>
          <p:nvPr/>
        </p:nvSpPr>
        <p:spPr>
          <a:xfrm>
            <a:off x="274320" y="1828800"/>
            <a:ext cx="2651760" cy="274320"/>
          </a:xfrm>
          <a:prstGeom prst="rect">
            <a:avLst/>
          </a:prstGeom>
          <a:noFill/>
          <a:ln/>
        </p:spPr>
        <p:txBody>
          <a:bodyPr wrap="square" rtlCol="0" anchor="ctr"/>
          <a:lstStyle/>
          <a:p>
            <a:pPr marL="0" indent="0" algn="ctr">
              <a:buNone/>
            </a:pPr>
            <a:r>
              <a:rPr lang="en-US" sz="1300" dirty="0">
                <a:solidFill>
                  <a:srgbClr val="333333"/>
                </a:solidFill>
                <a:latin typeface="Calibri" pitchFamily="34" charset="0"/>
              </a:rPr>
              <a:t>Real-world highway data</a:t>
            </a:r>
          </a:p>
        </p:txBody>
      </p:sp>
      <p:sp>
        <p:nvSpPr>
          <p:cNvPr id="16" name="C1Div2"/>
          <p:cNvSpPr/>
          <p:nvPr/>
        </p:nvSpPr>
        <p:spPr>
          <a:xfrm>
            <a:off x="365760" y="2194560"/>
            <a:ext cx="2468880" cy="19050"/>
          </a:xfrm>
          <a:prstGeom prst="rect">
            <a:avLst/>
          </a:prstGeom>
          <a:solidFill>
            <a:srgbClr val="C9B3BC"/>
          </a:solidFill>
          <a:ln>
            <a:noFill/>
          </a:ln>
        </p:spPr>
      </p:sp>
      <p:sp>
        <p:nvSpPr>
          <p:cNvPr id="17" name="C1UL"/>
          <p:cNvSpPr/>
          <p:nvPr/>
        </p:nvSpPr>
        <p:spPr>
          <a:xfrm>
            <a:off x="274320" y="2240280"/>
            <a:ext cx="2651760" cy="27432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USED FOR</a:t>
            </a:r>
          </a:p>
        </p:txBody>
      </p:sp>
      <p:sp>
        <p:nvSpPr>
          <p:cNvPr id="18" name="C1UV"/>
          <p:cNvSpPr/>
          <p:nvPr/>
        </p:nvSpPr>
        <p:spPr>
          <a:xfrm>
            <a:off x="274320" y="2514600"/>
            <a:ext cx="2651760" cy="685800"/>
          </a:xfrm>
          <a:prstGeom prst="rect">
            <a:avLst/>
          </a:prstGeom>
          <a:noFill/>
          <a:ln/>
        </p:spPr>
        <p:txBody>
          <a:bodyPr wrap="square" rtlCol="0" anchor="t"/>
          <a:lstStyle/>
          <a:p>
            <a:pPr marL="0" indent="0" algn="ctr">
              <a:buNone/>
            </a:pPr>
            <a:r>
              <a:rPr lang="en-US" sz="1300" dirty="0">
                <a:solidFill>
                  <a:srgbClr val="333333"/>
                </a:solidFill>
                <a:latin typeface="Calibri" pitchFamily="34" charset="0"/>
              </a:rPr>
              <a:t>Vehicle movement, speed &amp; behavior analysis</a:t>
            </a:r>
          </a:p>
        </p:txBody>
      </p:sp>
      <p:sp>
        <p:nvSpPr>
          <p:cNvPr id="20" name="C2BG"/>
          <p:cNvSpPr/>
          <p:nvPr/>
        </p:nvSpPr>
        <p:spPr>
          <a:xfrm>
            <a:off x="3200400" y="800100"/>
            <a:ext cx="2743200" cy="3657600"/>
          </a:xfrm>
          <a:prstGeom prst="rect">
            <a:avLst/>
          </a:prstGeom>
          <a:solidFill>
            <a:srgbClr val="F5EFF1"/>
          </a:solidFill>
          <a:ln w="19050">
            <a:solidFill>
              <a:srgbClr val="7A1538"/>
            </a:solidFill>
          </a:ln>
        </p:spPr>
      </p:sp>
      <p:sp>
        <p:nvSpPr>
          <p:cNvPr id="21" name="C2Bar"/>
          <p:cNvSpPr/>
          <p:nvPr/>
        </p:nvSpPr>
        <p:spPr>
          <a:xfrm>
            <a:off x="3200400" y="800100"/>
            <a:ext cx="2743200" cy="182880"/>
          </a:xfrm>
          <a:prstGeom prst="rect">
            <a:avLst/>
          </a:prstGeom>
          <a:solidFill>
            <a:srgbClr val="7A1538"/>
          </a:solidFill>
          <a:ln>
            <a:noFill/>
          </a:ln>
        </p:spPr>
      </p:sp>
      <p:sp>
        <p:nvSpPr>
          <p:cNvPr id="22" name="C2Name"/>
          <p:cNvSpPr/>
          <p:nvPr/>
        </p:nvSpPr>
        <p:spPr>
          <a:xfrm>
            <a:off x="3246120" y="1051560"/>
            <a:ext cx="2651760" cy="41148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TAPAS Cologne</a:t>
            </a:r>
          </a:p>
        </p:txBody>
      </p:sp>
      <p:sp>
        <p:nvSpPr>
          <p:cNvPr id="23" name="C2Div1"/>
          <p:cNvSpPr/>
          <p:nvPr/>
        </p:nvSpPr>
        <p:spPr>
          <a:xfrm>
            <a:off x="3337560" y="1508760"/>
            <a:ext cx="2468880" cy="19050"/>
          </a:xfrm>
          <a:prstGeom prst="rect">
            <a:avLst/>
          </a:prstGeom>
          <a:solidFill>
            <a:srgbClr val="C9B3BC"/>
          </a:solidFill>
          <a:ln>
            <a:noFill/>
          </a:ln>
        </p:spPr>
      </p:sp>
      <p:sp>
        <p:nvSpPr>
          <p:cNvPr id="24" name="C2TL"/>
          <p:cNvSpPr/>
          <p:nvPr/>
        </p:nvSpPr>
        <p:spPr>
          <a:xfrm>
            <a:off x="3246120" y="1554480"/>
            <a:ext cx="2651760" cy="27432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TYPE</a:t>
            </a:r>
          </a:p>
        </p:txBody>
      </p:sp>
      <p:sp>
        <p:nvSpPr>
          <p:cNvPr id="25" name="C2TV"/>
          <p:cNvSpPr/>
          <p:nvPr/>
        </p:nvSpPr>
        <p:spPr>
          <a:xfrm>
            <a:off x="3246120" y="1828800"/>
            <a:ext cx="2651760" cy="274320"/>
          </a:xfrm>
          <a:prstGeom prst="rect">
            <a:avLst/>
          </a:prstGeom>
          <a:noFill/>
          <a:ln/>
        </p:spPr>
        <p:txBody>
          <a:bodyPr wrap="square" rtlCol="0" anchor="ctr"/>
          <a:lstStyle/>
          <a:p>
            <a:pPr marL="0" indent="0" algn="ctr">
              <a:buNone/>
            </a:pPr>
            <a:r>
              <a:rPr lang="en-US" sz="1300" dirty="0">
                <a:solidFill>
                  <a:srgbClr val="333333"/>
                </a:solidFill>
                <a:latin typeface="Calibri" pitchFamily="34" charset="0"/>
              </a:rPr>
              <a:t>Urban traffic dataset</a:t>
            </a:r>
          </a:p>
        </p:txBody>
      </p:sp>
      <p:sp>
        <p:nvSpPr>
          <p:cNvPr id="26" name="C2Div2"/>
          <p:cNvSpPr/>
          <p:nvPr/>
        </p:nvSpPr>
        <p:spPr>
          <a:xfrm>
            <a:off x="3337560" y="2194560"/>
            <a:ext cx="2468880" cy="19050"/>
          </a:xfrm>
          <a:prstGeom prst="rect">
            <a:avLst/>
          </a:prstGeom>
          <a:solidFill>
            <a:srgbClr val="C9B3BC"/>
          </a:solidFill>
          <a:ln>
            <a:noFill/>
          </a:ln>
        </p:spPr>
      </p:sp>
      <p:sp>
        <p:nvSpPr>
          <p:cNvPr id="27" name="C2UL"/>
          <p:cNvSpPr/>
          <p:nvPr/>
        </p:nvSpPr>
        <p:spPr>
          <a:xfrm>
            <a:off x="3246120" y="2240280"/>
            <a:ext cx="2651760" cy="27432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USED FOR</a:t>
            </a:r>
          </a:p>
        </p:txBody>
      </p:sp>
      <p:sp>
        <p:nvSpPr>
          <p:cNvPr id="28" name="C2UV"/>
          <p:cNvSpPr/>
          <p:nvPr/>
        </p:nvSpPr>
        <p:spPr>
          <a:xfrm>
            <a:off x="3246120" y="2514600"/>
            <a:ext cx="2651760" cy="685800"/>
          </a:xfrm>
          <a:prstGeom prst="rect">
            <a:avLst/>
          </a:prstGeom>
          <a:noFill/>
          <a:ln/>
        </p:spPr>
        <p:txBody>
          <a:bodyPr wrap="square" rtlCol="0" anchor="t"/>
          <a:lstStyle/>
          <a:p>
            <a:pPr marL="0" indent="0" algn="ctr">
              <a:buNone/>
            </a:pPr>
            <a:r>
              <a:rPr lang="en-US" sz="1300" dirty="0">
                <a:solidFill>
                  <a:srgbClr val="333333"/>
                </a:solidFill>
                <a:latin typeface="Calibri" pitchFamily="34" charset="0"/>
              </a:rPr>
              <a:t>City traffic simulation</a:t>
            </a:r>
          </a:p>
        </p:txBody>
      </p:sp>
      <p:sp>
        <p:nvSpPr>
          <p:cNvPr id="30" name="C3BG"/>
          <p:cNvSpPr/>
          <p:nvPr/>
        </p:nvSpPr>
        <p:spPr>
          <a:xfrm>
            <a:off x="6172200" y="800100"/>
            <a:ext cx="2743200" cy="3657600"/>
          </a:xfrm>
          <a:prstGeom prst="rect">
            <a:avLst/>
          </a:prstGeom>
          <a:solidFill>
            <a:srgbClr val="F5EFF1"/>
          </a:solidFill>
          <a:ln w="19050">
            <a:solidFill>
              <a:srgbClr val="7A1538"/>
            </a:solidFill>
          </a:ln>
        </p:spPr>
      </p:sp>
      <p:sp>
        <p:nvSpPr>
          <p:cNvPr id="31" name="C3Bar"/>
          <p:cNvSpPr/>
          <p:nvPr/>
        </p:nvSpPr>
        <p:spPr>
          <a:xfrm>
            <a:off x="6172200" y="800100"/>
            <a:ext cx="2743200" cy="182880"/>
          </a:xfrm>
          <a:prstGeom prst="rect">
            <a:avLst/>
          </a:prstGeom>
          <a:solidFill>
            <a:srgbClr val="7A1538"/>
          </a:solidFill>
          <a:ln>
            <a:noFill/>
          </a:ln>
        </p:spPr>
      </p:sp>
      <p:sp>
        <p:nvSpPr>
          <p:cNvPr id="32" name="C3Name"/>
          <p:cNvSpPr/>
          <p:nvPr/>
        </p:nvSpPr>
        <p:spPr>
          <a:xfrm>
            <a:off x="6217920" y="1051560"/>
            <a:ext cx="2651760" cy="41148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SUMO</a:t>
            </a:r>
          </a:p>
        </p:txBody>
      </p:sp>
      <p:sp>
        <p:nvSpPr>
          <p:cNvPr id="33" name="C3Div1"/>
          <p:cNvSpPr/>
          <p:nvPr/>
        </p:nvSpPr>
        <p:spPr>
          <a:xfrm>
            <a:off x="6309360" y="1508760"/>
            <a:ext cx="2468880" cy="19050"/>
          </a:xfrm>
          <a:prstGeom prst="rect">
            <a:avLst/>
          </a:prstGeom>
          <a:solidFill>
            <a:srgbClr val="C9B3BC"/>
          </a:solidFill>
          <a:ln>
            <a:noFill/>
          </a:ln>
        </p:spPr>
      </p:sp>
      <p:sp>
        <p:nvSpPr>
          <p:cNvPr id="34" name="C3TL"/>
          <p:cNvSpPr/>
          <p:nvPr/>
        </p:nvSpPr>
        <p:spPr>
          <a:xfrm>
            <a:off x="6217920" y="1554480"/>
            <a:ext cx="2651760" cy="27432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TYPE</a:t>
            </a:r>
          </a:p>
        </p:txBody>
      </p:sp>
      <p:sp>
        <p:nvSpPr>
          <p:cNvPr id="35" name="C3TV"/>
          <p:cNvSpPr/>
          <p:nvPr/>
        </p:nvSpPr>
        <p:spPr>
          <a:xfrm>
            <a:off x="6217920" y="1828800"/>
            <a:ext cx="2651760" cy="274320"/>
          </a:xfrm>
          <a:prstGeom prst="rect">
            <a:avLst/>
          </a:prstGeom>
          <a:noFill/>
          <a:ln/>
        </p:spPr>
        <p:txBody>
          <a:bodyPr wrap="square" rtlCol="0" anchor="ctr"/>
          <a:lstStyle/>
          <a:p>
            <a:pPr marL="0" indent="0" algn="ctr">
              <a:buNone/>
            </a:pPr>
            <a:r>
              <a:rPr lang="en-US" sz="1300" dirty="0">
                <a:solidFill>
                  <a:srgbClr val="333333"/>
                </a:solidFill>
                <a:latin typeface="Calibri" pitchFamily="34" charset="0"/>
              </a:rPr>
              <a:t>Simulation tool</a:t>
            </a:r>
          </a:p>
        </p:txBody>
      </p:sp>
      <p:sp>
        <p:nvSpPr>
          <p:cNvPr id="36" name="C3Div2"/>
          <p:cNvSpPr/>
          <p:nvPr/>
        </p:nvSpPr>
        <p:spPr>
          <a:xfrm>
            <a:off x="6309360" y="2194560"/>
            <a:ext cx="2468880" cy="19050"/>
          </a:xfrm>
          <a:prstGeom prst="rect">
            <a:avLst/>
          </a:prstGeom>
          <a:solidFill>
            <a:srgbClr val="C9B3BC"/>
          </a:solidFill>
          <a:ln>
            <a:noFill/>
          </a:ln>
        </p:spPr>
      </p:sp>
      <p:sp>
        <p:nvSpPr>
          <p:cNvPr id="37" name="C3UL"/>
          <p:cNvSpPr/>
          <p:nvPr/>
        </p:nvSpPr>
        <p:spPr>
          <a:xfrm>
            <a:off x="6217920" y="2240280"/>
            <a:ext cx="2651760" cy="274320"/>
          </a:xfrm>
          <a:prstGeom prst="rect">
            <a:avLst/>
          </a:prstGeom>
          <a:noFill/>
          <a:ln/>
        </p:spPr>
        <p:txBody>
          <a:bodyPr wrap="square" rtlCol="0" anchor="ctr"/>
          <a:lstStyle/>
          <a:p>
            <a:pPr marL="0" indent="0" algn="ctr">
              <a:buNone/>
            </a:pPr>
            <a:r>
              <a:rPr lang="en-US" sz="1300" b="1" dirty="0">
                <a:solidFill>
                  <a:srgbClr val="7A1538"/>
                </a:solidFill>
                <a:latin typeface="Calibri" pitchFamily="34" charset="0"/>
              </a:rPr>
              <a:t>USED FOR</a:t>
            </a:r>
          </a:p>
        </p:txBody>
      </p:sp>
      <p:sp>
        <p:nvSpPr>
          <p:cNvPr id="38" name="C3UV"/>
          <p:cNvSpPr/>
          <p:nvPr/>
        </p:nvSpPr>
        <p:spPr>
          <a:xfrm>
            <a:off x="6217920" y="2514600"/>
            <a:ext cx="2651760" cy="685800"/>
          </a:xfrm>
          <a:prstGeom prst="rect">
            <a:avLst/>
          </a:prstGeom>
          <a:noFill/>
          <a:ln/>
        </p:spPr>
        <p:txBody>
          <a:bodyPr wrap="square" rtlCol="0" anchor="t"/>
          <a:lstStyle/>
          <a:p>
            <a:pPr marL="0" indent="0" algn="ctr">
              <a:buNone/>
            </a:pPr>
            <a:r>
              <a:rPr lang="en-US" sz="1300" dirty="0">
                <a:solidFill>
                  <a:srgbClr val="333333"/>
                </a:solidFill>
                <a:latin typeface="Calibri" pitchFamily="34" charset="0"/>
              </a:rPr>
              <a:t>Generate custom traffic scenarios (best for implementation)</a:t>
            </a:r>
          </a:p>
        </p:txBody>
      </p:sp>
      <p:sp>
        <p:nvSpPr>
          <p:cNvPr id="50" name="Footer"/>
          <p:cNvSpPr/>
          <p:nvPr/>
        </p:nvSpPr>
        <p:spPr>
          <a:xfrm>
            <a:off x="0" y="4937760"/>
            <a:ext cx="9144000" cy="201168"/>
          </a:xfrm>
          <a:prstGeom prst="rect">
            <a:avLst/>
          </a:prstGeom>
          <a:solidFill>
            <a:srgbClr val="7A1538"/>
          </a:solidFill>
          <a:ln w="12700">
            <a:solidFill>
              <a:srgbClr val="7A1538"/>
            </a:solidFill>
          </a:ln>
        </p:spPr>
      </p:sp>
      <p:sp>
        <p:nvSpPr>
          <p:cNvPr id="51" name="PageNum"/>
          <p:cNvSpPr/>
          <p:nvPr/>
        </p:nvSpPr>
        <p:spPr>
          <a:xfrm>
            <a:off x="7589520" y="4937760"/>
            <a:ext cx="1463040" cy="201168"/>
          </a:xfrm>
          <a:prstGeom prst="rect">
            <a:avLst/>
          </a:prstGeom>
          <a:noFill/>
          <a:ln/>
        </p:spPr>
        <p:txBody>
          <a:bodyPr wrap="square" rtlCol="0" anchor="ctr"/>
          <a:lstStyle/>
          <a:p>
            <a:pPr marL="0" indent="0" algn="r">
              <a:buNone/>
            </a:pPr>
            <a:r>
              <a:rPr lang="en-US" sz="1300" dirty="0">
                <a:solidFill>
                  <a:srgbClr val="FFFFFF"/>
                </a:solidFill>
                <a:latin typeface="Calibri" pitchFamily="34" charset="0"/>
              </a:rPr>
              <a:t>17 / 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8706-3AF5-8DCA-2E8F-063C3A9DE9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A55FAE-09C8-CB05-EBBC-B45D5C285A3A}"/>
              </a:ext>
            </a:extLst>
          </p:cNvPr>
          <p:cNvSpPr/>
          <p:nvPr/>
        </p:nvSpPr>
        <p:spPr>
          <a:xfrm>
            <a:off x="0" y="0"/>
            <a:ext cx="9144000" cy="685800"/>
          </a:xfrm>
          <a:prstGeom prst="rect">
            <a:avLst/>
          </a:prstGeom>
          <a:solidFill>
            <a:srgbClr val="7A1538"/>
          </a:solidFill>
          <a:ln w="12700">
            <a:solidFill>
              <a:srgbClr val="7A1538"/>
            </a:solidFill>
            <a:prstDash val="solid"/>
          </a:ln>
        </p:spPr>
      </p:sp>
      <p:sp>
        <p:nvSpPr>
          <p:cNvPr id="3" name="Text 1">
            <a:extLst>
              <a:ext uri="{FF2B5EF4-FFF2-40B4-BE49-F238E27FC236}">
                <a16:creationId xmlns:a16="http://schemas.microsoft.com/office/drawing/2014/main" id="{780CA4CF-9BB4-778B-1F7D-EC5AB8A6C439}"/>
              </a:ext>
            </a:extLst>
          </p:cNvPr>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References (1/2)</a:t>
            </a:r>
            <a:endParaRPr lang="en-US" sz="2400" dirty="0"/>
          </a:p>
        </p:txBody>
      </p:sp>
      <p:sp>
        <p:nvSpPr>
          <p:cNvPr id="4" name="Shape 2">
            <a:extLst>
              <a:ext uri="{FF2B5EF4-FFF2-40B4-BE49-F238E27FC236}">
                <a16:creationId xmlns:a16="http://schemas.microsoft.com/office/drawing/2014/main" id="{2881C595-0FFF-F614-135F-9F14AD4C523B}"/>
              </a:ext>
            </a:extLst>
          </p:cNvPr>
          <p:cNvSpPr/>
          <p:nvPr/>
        </p:nvSpPr>
        <p:spPr>
          <a:xfrm>
            <a:off x="274320" y="896112"/>
            <a:ext cx="292608" cy="292608"/>
          </a:xfrm>
          <a:prstGeom prst="ellipse">
            <a:avLst/>
          </a:prstGeom>
          <a:solidFill>
            <a:srgbClr val="7A1538"/>
          </a:solidFill>
          <a:ln w="12700">
            <a:solidFill>
              <a:srgbClr val="7A1538"/>
            </a:solidFill>
            <a:prstDash val="solid"/>
          </a:ln>
        </p:spPr>
      </p:sp>
      <p:sp>
        <p:nvSpPr>
          <p:cNvPr id="5" name="Text 3">
            <a:extLst>
              <a:ext uri="{FF2B5EF4-FFF2-40B4-BE49-F238E27FC236}">
                <a16:creationId xmlns:a16="http://schemas.microsoft.com/office/drawing/2014/main" id="{9C542CFA-09CE-5242-7D7E-BC0C74406929}"/>
              </a:ext>
            </a:extLst>
          </p:cNvPr>
          <p:cNvSpPr/>
          <p:nvPr/>
        </p:nvSpPr>
        <p:spPr>
          <a:xfrm>
            <a:off x="274320" y="896112"/>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4">
            <a:extLst>
              <a:ext uri="{FF2B5EF4-FFF2-40B4-BE49-F238E27FC236}">
                <a16:creationId xmlns:a16="http://schemas.microsoft.com/office/drawing/2014/main" id="{D480A41F-D6A7-E542-91F1-C4CA8320480B}"/>
              </a:ext>
            </a:extLst>
          </p:cNvPr>
          <p:cNvSpPr/>
          <p:nvPr/>
        </p:nvSpPr>
        <p:spPr>
          <a:xfrm>
            <a:off x="685800" y="841248"/>
            <a:ext cx="8229600" cy="45720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Liu, Z., et al. "TCEMD: A Trust Cascading-Based Emergency Message Dissemination Model in VANETs." IEEE Internet of Things Journal, vol. 7, no. 5, 2020, pp. 4028–4048.</a:t>
            </a:r>
            <a:endParaRPr lang="en-US" sz="1000" dirty="0"/>
          </a:p>
        </p:txBody>
      </p:sp>
      <p:sp>
        <p:nvSpPr>
          <p:cNvPr id="7" name="Shape 5">
            <a:extLst>
              <a:ext uri="{FF2B5EF4-FFF2-40B4-BE49-F238E27FC236}">
                <a16:creationId xmlns:a16="http://schemas.microsoft.com/office/drawing/2014/main" id="{B1119507-C3C0-842F-E700-7722BC002B4C}"/>
              </a:ext>
            </a:extLst>
          </p:cNvPr>
          <p:cNvSpPr/>
          <p:nvPr/>
        </p:nvSpPr>
        <p:spPr>
          <a:xfrm>
            <a:off x="274320" y="1417320"/>
            <a:ext cx="292608" cy="292608"/>
          </a:xfrm>
          <a:prstGeom prst="ellipse">
            <a:avLst/>
          </a:prstGeom>
          <a:solidFill>
            <a:srgbClr val="7A1538"/>
          </a:solidFill>
          <a:ln w="12700">
            <a:solidFill>
              <a:srgbClr val="7A1538"/>
            </a:solidFill>
            <a:prstDash val="solid"/>
          </a:ln>
        </p:spPr>
      </p:sp>
      <p:sp>
        <p:nvSpPr>
          <p:cNvPr id="8" name="Text 6">
            <a:extLst>
              <a:ext uri="{FF2B5EF4-FFF2-40B4-BE49-F238E27FC236}">
                <a16:creationId xmlns:a16="http://schemas.microsoft.com/office/drawing/2014/main" id="{17055B87-A802-99C9-E60A-A08AEBFAC3CD}"/>
              </a:ext>
            </a:extLst>
          </p:cNvPr>
          <p:cNvSpPr/>
          <p:nvPr/>
        </p:nvSpPr>
        <p:spPr>
          <a:xfrm>
            <a:off x="274320" y="1417320"/>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 name="Text 7">
            <a:extLst>
              <a:ext uri="{FF2B5EF4-FFF2-40B4-BE49-F238E27FC236}">
                <a16:creationId xmlns:a16="http://schemas.microsoft.com/office/drawing/2014/main" id="{E4C76F21-9D60-810D-12CE-173CB1677210}"/>
              </a:ext>
            </a:extLst>
          </p:cNvPr>
          <p:cNvSpPr/>
          <p:nvPr/>
        </p:nvSpPr>
        <p:spPr>
          <a:xfrm>
            <a:off x="685800" y="1362456"/>
            <a:ext cx="8229600" cy="45720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Qi, J., et al. "A Hybrid-Trust-Based Emergency Message Dissemination Model for Vehicular Ad Hoc Networks." Journal of Information Security and Applications, vol. 81, 2024, p. 103699.</a:t>
            </a:r>
            <a:endParaRPr lang="en-US" sz="1000" dirty="0"/>
          </a:p>
        </p:txBody>
      </p:sp>
      <p:sp>
        <p:nvSpPr>
          <p:cNvPr id="10" name="Shape 8">
            <a:extLst>
              <a:ext uri="{FF2B5EF4-FFF2-40B4-BE49-F238E27FC236}">
                <a16:creationId xmlns:a16="http://schemas.microsoft.com/office/drawing/2014/main" id="{F5D79D75-0FB9-F852-EFE4-FE9EE639D84D}"/>
              </a:ext>
            </a:extLst>
          </p:cNvPr>
          <p:cNvSpPr/>
          <p:nvPr/>
        </p:nvSpPr>
        <p:spPr>
          <a:xfrm>
            <a:off x="274320" y="1938528"/>
            <a:ext cx="292608" cy="292608"/>
          </a:xfrm>
          <a:prstGeom prst="ellipse">
            <a:avLst/>
          </a:prstGeom>
          <a:solidFill>
            <a:srgbClr val="7A1538"/>
          </a:solidFill>
          <a:ln w="12700">
            <a:solidFill>
              <a:srgbClr val="7A1538"/>
            </a:solidFill>
            <a:prstDash val="solid"/>
          </a:ln>
        </p:spPr>
      </p:sp>
      <p:sp>
        <p:nvSpPr>
          <p:cNvPr id="11" name="Text 9">
            <a:extLst>
              <a:ext uri="{FF2B5EF4-FFF2-40B4-BE49-F238E27FC236}">
                <a16:creationId xmlns:a16="http://schemas.microsoft.com/office/drawing/2014/main" id="{F3440E2C-47CC-AA53-16F3-8AC95A4C3516}"/>
              </a:ext>
            </a:extLst>
          </p:cNvPr>
          <p:cNvSpPr/>
          <p:nvPr/>
        </p:nvSpPr>
        <p:spPr>
          <a:xfrm>
            <a:off x="274320" y="193852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2" name="Text 10">
            <a:extLst>
              <a:ext uri="{FF2B5EF4-FFF2-40B4-BE49-F238E27FC236}">
                <a16:creationId xmlns:a16="http://schemas.microsoft.com/office/drawing/2014/main" id="{95672083-A975-472E-4731-417060F25C86}"/>
              </a:ext>
            </a:extLst>
          </p:cNvPr>
          <p:cNvSpPr/>
          <p:nvPr/>
        </p:nvSpPr>
        <p:spPr>
          <a:xfrm>
            <a:off x="685800" y="1883664"/>
            <a:ext cx="8229600" cy="45720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Kaur, R., Doss, R., Pan, L. "The Route Based Emergency Message Dissemination Scheme Using Multihop Wireless Network for VANETs." Telecommunication Systems, vol. 87, 2024, pp. 1183–1199.</a:t>
            </a:r>
            <a:endParaRPr lang="en-US" sz="1000" dirty="0"/>
          </a:p>
        </p:txBody>
      </p:sp>
      <p:sp>
        <p:nvSpPr>
          <p:cNvPr id="13" name="Shape 11">
            <a:extLst>
              <a:ext uri="{FF2B5EF4-FFF2-40B4-BE49-F238E27FC236}">
                <a16:creationId xmlns:a16="http://schemas.microsoft.com/office/drawing/2014/main" id="{E56FF5A0-DD4D-41C3-5E40-9A0E994992E9}"/>
              </a:ext>
            </a:extLst>
          </p:cNvPr>
          <p:cNvSpPr/>
          <p:nvPr/>
        </p:nvSpPr>
        <p:spPr>
          <a:xfrm>
            <a:off x="274320" y="2551178"/>
            <a:ext cx="292608" cy="292608"/>
          </a:xfrm>
          <a:prstGeom prst="ellipse">
            <a:avLst/>
          </a:prstGeom>
          <a:solidFill>
            <a:srgbClr val="7A1538"/>
          </a:solidFill>
          <a:ln w="12700">
            <a:solidFill>
              <a:srgbClr val="7A1538"/>
            </a:solidFill>
            <a:prstDash val="solid"/>
          </a:ln>
        </p:spPr>
      </p:sp>
      <p:sp>
        <p:nvSpPr>
          <p:cNvPr id="14" name="Text 12">
            <a:extLst>
              <a:ext uri="{FF2B5EF4-FFF2-40B4-BE49-F238E27FC236}">
                <a16:creationId xmlns:a16="http://schemas.microsoft.com/office/drawing/2014/main" id="{978B8AC8-D3C8-4598-5512-E982F245A552}"/>
              </a:ext>
            </a:extLst>
          </p:cNvPr>
          <p:cNvSpPr/>
          <p:nvPr/>
        </p:nvSpPr>
        <p:spPr>
          <a:xfrm>
            <a:off x="274320" y="2530076"/>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5" name="Text 13">
            <a:extLst>
              <a:ext uri="{FF2B5EF4-FFF2-40B4-BE49-F238E27FC236}">
                <a16:creationId xmlns:a16="http://schemas.microsoft.com/office/drawing/2014/main" id="{390F0BF9-D9F2-C03A-395D-3A9F341D6B81}"/>
              </a:ext>
            </a:extLst>
          </p:cNvPr>
          <p:cNvSpPr/>
          <p:nvPr/>
        </p:nvSpPr>
        <p:spPr>
          <a:xfrm>
            <a:off x="685800" y="2483652"/>
            <a:ext cx="8229600" cy="45720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Kaur, R., et al. "Role of Roadside Units in Cluster Head Election and Coverage Maximization for Vehicle Emergency Services." Computers, vol. 14, no. 4, 2025, p. 152.</a:t>
            </a:r>
            <a:endParaRPr lang="en-US" sz="1000" dirty="0"/>
          </a:p>
        </p:txBody>
      </p:sp>
      <p:sp>
        <p:nvSpPr>
          <p:cNvPr id="16" name="Shape 14">
            <a:extLst>
              <a:ext uri="{FF2B5EF4-FFF2-40B4-BE49-F238E27FC236}">
                <a16:creationId xmlns:a16="http://schemas.microsoft.com/office/drawing/2014/main" id="{1C54FBDC-F9D0-37AB-A158-9FBDBB4C0654}"/>
              </a:ext>
            </a:extLst>
          </p:cNvPr>
          <p:cNvSpPr/>
          <p:nvPr/>
        </p:nvSpPr>
        <p:spPr>
          <a:xfrm>
            <a:off x="274320" y="3198998"/>
            <a:ext cx="292608" cy="292608"/>
          </a:xfrm>
          <a:prstGeom prst="ellipse">
            <a:avLst/>
          </a:prstGeom>
          <a:solidFill>
            <a:srgbClr val="7A1538"/>
          </a:solidFill>
          <a:ln w="12700">
            <a:solidFill>
              <a:srgbClr val="7A1538"/>
            </a:solidFill>
            <a:prstDash val="solid"/>
          </a:ln>
        </p:spPr>
      </p:sp>
      <p:sp>
        <p:nvSpPr>
          <p:cNvPr id="17" name="Text 15">
            <a:extLst>
              <a:ext uri="{FF2B5EF4-FFF2-40B4-BE49-F238E27FC236}">
                <a16:creationId xmlns:a16="http://schemas.microsoft.com/office/drawing/2014/main" id="{0E1CA1C2-80CB-9093-7F6B-6D2016AA6DC5}"/>
              </a:ext>
            </a:extLst>
          </p:cNvPr>
          <p:cNvSpPr/>
          <p:nvPr/>
        </p:nvSpPr>
        <p:spPr>
          <a:xfrm>
            <a:off x="274320" y="3170862"/>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8" name="Text 16">
            <a:extLst>
              <a:ext uri="{FF2B5EF4-FFF2-40B4-BE49-F238E27FC236}">
                <a16:creationId xmlns:a16="http://schemas.microsoft.com/office/drawing/2014/main" id="{5CEE47F7-54AC-A70F-8661-32FD7B5065AE}"/>
              </a:ext>
            </a:extLst>
          </p:cNvPr>
          <p:cNvSpPr/>
          <p:nvPr/>
        </p:nvSpPr>
        <p:spPr>
          <a:xfrm>
            <a:off x="685800" y="3088566"/>
            <a:ext cx="8229600" cy="457200"/>
          </a:xfrm>
          <a:prstGeom prst="rect">
            <a:avLst/>
          </a:prstGeom>
          <a:noFill/>
          <a:ln/>
        </p:spPr>
        <p:txBody>
          <a:bodyPr wrap="square" rtlCol="0" anchor="ctr"/>
          <a:lstStyle/>
          <a:p>
            <a:r>
              <a:rPr lang="en-US" sz="1000" dirty="0"/>
              <a:t>Maurya, C., &amp; Chaurasiya, V. K. (2023). </a:t>
            </a:r>
            <a:r>
              <a:rPr lang="en-US" sz="1000" i="1" dirty="0"/>
              <a:t>Efficient anonymous batch authentication scheme with conditional privacy in the Internet of Vehicles applications.</a:t>
            </a:r>
            <a:r>
              <a:rPr lang="en-US" sz="1000" dirty="0"/>
              <a:t> IEEE Transactions on Intelligent Transportation Systems, 24(9), 9670–9683.</a:t>
            </a:r>
          </a:p>
        </p:txBody>
      </p:sp>
      <p:sp>
        <p:nvSpPr>
          <p:cNvPr id="20" name="Text 18">
            <a:extLst>
              <a:ext uri="{FF2B5EF4-FFF2-40B4-BE49-F238E27FC236}">
                <a16:creationId xmlns:a16="http://schemas.microsoft.com/office/drawing/2014/main" id="{53D46485-BDE7-4963-D49B-9FF1653D3B0C}"/>
              </a:ext>
            </a:extLst>
          </p:cNvPr>
          <p:cNvSpPr/>
          <p:nvPr/>
        </p:nvSpPr>
        <p:spPr>
          <a:xfrm>
            <a:off x="274320" y="3502152"/>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3" name="Text 21">
            <a:extLst>
              <a:ext uri="{FF2B5EF4-FFF2-40B4-BE49-F238E27FC236}">
                <a16:creationId xmlns:a16="http://schemas.microsoft.com/office/drawing/2014/main" id="{28E868A0-0A35-B147-46A9-433ECD2999B7}"/>
              </a:ext>
            </a:extLst>
          </p:cNvPr>
          <p:cNvSpPr/>
          <p:nvPr/>
        </p:nvSpPr>
        <p:spPr>
          <a:xfrm>
            <a:off x="286981" y="369874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6" name="Text 24">
            <a:extLst>
              <a:ext uri="{FF2B5EF4-FFF2-40B4-BE49-F238E27FC236}">
                <a16:creationId xmlns:a16="http://schemas.microsoft.com/office/drawing/2014/main" id="{04536E64-701F-B609-2AAD-CAB9CBCE3590}"/>
              </a:ext>
            </a:extLst>
          </p:cNvPr>
          <p:cNvSpPr/>
          <p:nvPr/>
        </p:nvSpPr>
        <p:spPr>
          <a:xfrm>
            <a:off x="274320" y="454456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28" name="Shape 26">
            <a:extLst>
              <a:ext uri="{FF2B5EF4-FFF2-40B4-BE49-F238E27FC236}">
                <a16:creationId xmlns:a16="http://schemas.microsoft.com/office/drawing/2014/main" id="{867C5E33-BE62-F10B-C2C0-1998C18A125C}"/>
              </a:ext>
            </a:extLst>
          </p:cNvPr>
          <p:cNvSpPr/>
          <p:nvPr/>
        </p:nvSpPr>
        <p:spPr>
          <a:xfrm>
            <a:off x="0" y="4937760"/>
            <a:ext cx="9144000" cy="201168"/>
          </a:xfrm>
          <a:prstGeom prst="rect">
            <a:avLst/>
          </a:prstGeom>
          <a:solidFill>
            <a:srgbClr val="7A1538"/>
          </a:solidFill>
          <a:ln w="12700">
            <a:solidFill>
              <a:srgbClr val="7A1538"/>
            </a:solidFill>
            <a:prstDash val="solid"/>
          </a:ln>
        </p:spPr>
      </p:sp>
      <p:sp>
        <p:nvSpPr>
          <p:cNvPr id="29" name="Text 27">
            <a:extLst>
              <a:ext uri="{FF2B5EF4-FFF2-40B4-BE49-F238E27FC236}">
                <a16:creationId xmlns:a16="http://schemas.microsoft.com/office/drawing/2014/main" id="{7675EB96-9A24-5F2C-9C6D-9538A9258228}"/>
              </a:ext>
            </a:extLst>
          </p:cNvPr>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16 / 22</a:t>
            </a:r>
            <a:endParaRPr lang="en-US" sz="900" dirty="0"/>
          </a:p>
        </p:txBody>
      </p:sp>
      <p:sp>
        <p:nvSpPr>
          <p:cNvPr id="19" name="Shape 14">
            <a:extLst>
              <a:ext uri="{FF2B5EF4-FFF2-40B4-BE49-F238E27FC236}">
                <a16:creationId xmlns:a16="http://schemas.microsoft.com/office/drawing/2014/main" id="{A6E3D1A6-93DD-52BC-7B34-0560C9236BA9}"/>
              </a:ext>
            </a:extLst>
          </p:cNvPr>
          <p:cNvSpPr/>
          <p:nvPr/>
        </p:nvSpPr>
        <p:spPr>
          <a:xfrm>
            <a:off x="305269" y="3753612"/>
            <a:ext cx="292608" cy="292608"/>
          </a:xfrm>
          <a:prstGeom prst="ellipse">
            <a:avLst/>
          </a:prstGeom>
          <a:solidFill>
            <a:srgbClr val="7A1538"/>
          </a:solidFill>
          <a:ln w="12700">
            <a:solidFill>
              <a:srgbClr val="7A1538"/>
            </a:solidFill>
            <a:prstDash val="solid"/>
          </a:ln>
        </p:spPr>
        <p:txBody>
          <a:bodyPr/>
          <a:lstStyle/>
          <a:p>
            <a:endParaRPr lang="en-IN" dirty="0"/>
          </a:p>
        </p:txBody>
      </p:sp>
      <p:sp>
        <p:nvSpPr>
          <p:cNvPr id="21" name="Text 15">
            <a:extLst>
              <a:ext uri="{FF2B5EF4-FFF2-40B4-BE49-F238E27FC236}">
                <a16:creationId xmlns:a16="http://schemas.microsoft.com/office/drawing/2014/main" id="{7BDC19E2-8B85-93CB-8670-4C7114B5BA42}"/>
              </a:ext>
            </a:extLst>
          </p:cNvPr>
          <p:cNvSpPr/>
          <p:nvPr/>
        </p:nvSpPr>
        <p:spPr>
          <a:xfrm>
            <a:off x="323557" y="376732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2" name="Text 16">
            <a:extLst>
              <a:ext uri="{FF2B5EF4-FFF2-40B4-BE49-F238E27FC236}">
                <a16:creationId xmlns:a16="http://schemas.microsoft.com/office/drawing/2014/main" id="{351F1817-ABF2-2D68-BC39-72B17B81B0B5}"/>
              </a:ext>
            </a:extLst>
          </p:cNvPr>
          <p:cNvSpPr/>
          <p:nvPr/>
        </p:nvSpPr>
        <p:spPr>
          <a:xfrm>
            <a:off x="685800" y="3602736"/>
            <a:ext cx="8229600" cy="457200"/>
          </a:xfrm>
          <a:prstGeom prst="rect">
            <a:avLst/>
          </a:prstGeom>
          <a:noFill/>
          <a:ln/>
        </p:spPr>
        <p:txBody>
          <a:bodyPr wrap="square" rtlCol="0" anchor="ctr"/>
          <a:lstStyle/>
          <a:p>
            <a:r>
              <a:rPr lang="en-US" sz="1000" dirty="0"/>
              <a:t>Muthuswamy, M., et al. (2024). </a:t>
            </a:r>
            <a:r>
              <a:rPr lang="en-US" sz="1000" i="1" dirty="0"/>
              <a:t>Energy efficient clustering with heuristic optimization-based routing protocol for VANETs</a:t>
            </a:r>
            <a:r>
              <a:rPr lang="en-US" sz="1000" dirty="0"/>
              <a:t>. </a:t>
            </a:r>
            <a:r>
              <a:rPr lang="en-US" sz="1000" b="1" dirty="0"/>
              <a:t>Journal of Advanced Transportation</a:t>
            </a:r>
            <a:r>
              <a:rPr lang="en-US" sz="1000" dirty="0"/>
              <a:t>.</a:t>
            </a:r>
          </a:p>
        </p:txBody>
      </p:sp>
    </p:spTree>
    <p:extLst>
      <p:ext uri="{BB962C8B-B14F-4D97-AF65-F5344CB8AC3E}">
        <p14:creationId xmlns:p14="http://schemas.microsoft.com/office/powerpoint/2010/main" val="288599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A1538"/>
          </a:solidFill>
          <a:ln w="12700">
            <a:solidFill>
              <a:srgbClr val="7A1538"/>
            </a:solidFill>
            <a:prstDash val="solid"/>
          </a:ln>
        </p:spPr>
      </p:sp>
      <p:sp>
        <p:nvSpPr>
          <p:cNvPr id="3" name="Text 1"/>
          <p:cNvSpPr/>
          <p:nvPr/>
        </p:nvSpPr>
        <p:spPr>
          <a:xfrm>
            <a:off x="274320" y="0"/>
            <a:ext cx="8686800" cy="6858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References (2/2)</a:t>
            </a:r>
            <a:endParaRPr lang="en-US" sz="2400" dirty="0"/>
          </a:p>
        </p:txBody>
      </p:sp>
      <p:sp>
        <p:nvSpPr>
          <p:cNvPr id="10" name="Shape 8"/>
          <p:cNvSpPr/>
          <p:nvPr/>
        </p:nvSpPr>
        <p:spPr>
          <a:xfrm>
            <a:off x="274320" y="1994799"/>
            <a:ext cx="292608" cy="292608"/>
          </a:xfrm>
          <a:prstGeom prst="ellipse">
            <a:avLst/>
          </a:prstGeom>
          <a:solidFill>
            <a:srgbClr val="7A1538"/>
          </a:solidFill>
          <a:ln w="12700">
            <a:solidFill>
              <a:srgbClr val="7A1538"/>
            </a:solidFill>
            <a:prstDash val="solid"/>
          </a:ln>
        </p:spPr>
        <p:txBody>
          <a:bodyPr/>
          <a:lstStyle/>
          <a:p>
            <a:endParaRPr lang="en-IN" dirty="0"/>
          </a:p>
        </p:txBody>
      </p:sp>
      <p:sp>
        <p:nvSpPr>
          <p:cNvPr id="11" name="Text 9"/>
          <p:cNvSpPr/>
          <p:nvPr/>
        </p:nvSpPr>
        <p:spPr>
          <a:xfrm>
            <a:off x="274320" y="2029968"/>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12" name="Text 10"/>
          <p:cNvSpPr/>
          <p:nvPr/>
        </p:nvSpPr>
        <p:spPr>
          <a:xfrm>
            <a:off x="685800" y="1975104"/>
            <a:ext cx="8229600" cy="502920"/>
          </a:xfrm>
          <a:prstGeom prst="rect">
            <a:avLst/>
          </a:prstGeom>
          <a:noFill/>
          <a:ln/>
        </p:spPr>
        <p:txBody>
          <a:bodyPr wrap="square" rtlCol="0" anchor="ctr"/>
          <a:lstStyle/>
          <a:p>
            <a:r>
              <a:rPr lang="en-US" sz="1000" dirty="0"/>
              <a:t>Wang, Y., Mahmood, A., Sabri, M. F. M., &amp; Zen, H. (2025). </a:t>
            </a:r>
            <a:r>
              <a:rPr lang="en-US" sz="1000" i="1" dirty="0"/>
              <a:t>Trust management in the Internet of Vehicles: A survey of the state-of-the-art.</a:t>
            </a:r>
            <a:r>
              <a:rPr lang="en-US" sz="1000" dirty="0"/>
              <a:t> IEEE Access.</a:t>
            </a:r>
          </a:p>
        </p:txBody>
      </p:sp>
      <p:sp>
        <p:nvSpPr>
          <p:cNvPr id="13" name="Shape 11"/>
          <p:cNvSpPr/>
          <p:nvPr/>
        </p:nvSpPr>
        <p:spPr>
          <a:xfrm>
            <a:off x="274320" y="2596896"/>
            <a:ext cx="292608" cy="292608"/>
          </a:xfrm>
          <a:prstGeom prst="ellipse">
            <a:avLst/>
          </a:prstGeom>
          <a:solidFill>
            <a:srgbClr val="7A1538"/>
          </a:solidFill>
          <a:ln w="12700">
            <a:solidFill>
              <a:srgbClr val="7A1538"/>
            </a:solidFill>
            <a:prstDash val="solid"/>
          </a:ln>
        </p:spPr>
      </p:sp>
      <p:sp>
        <p:nvSpPr>
          <p:cNvPr id="14" name="Text 12"/>
          <p:cNvSpPr/>
          <p:nvPr/>
        </p:nvSpPr>
        <p:spPr>
          <a:xfrm>
            <a:off x="274320" y="2596896"/>
            <a:ext cx="35204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p>
        </p:txBody>
      </p:sp>
      <p:sp>
        <p:nvSpPr>
          <p:cNvPr id="15" name="Text 13"/>
          <p:cNvSpPr/>
          <p:nvPr/>
        </p:nvSpPr>
        <p:spPr>
          <a:xfrm>
            <a:off x="685800" y="2542032"/>
            <a:ext cx="8229600" cy="502920"/>
          </a:xfrm>
          <a:prstGeom prst="rect">
            <a:avLst/>
          </a:prstGeom>
          <a:noFill/>
          <a:ln/>
        </p:spPr>
        <p:txBody>
          <a:bodyPr wrap="square" rtlCol="0" anchor="ctr"/>
          <a:lstStyle/>
          <a:p>
            <a:r>
              <a:rPr lang="en-IN" sz="1000" dirty="0"/>
              <a:t>Wang, X., Zhang, L., Chen, L., &amp; Li, H. (2024). </a:t>
            </a:r>
            <a:r>
              <a:rPr lang="en-IN" sz="1000" i="1" dirty="0"/>
              <a:t>A deep reinforcement learning-based intelligent QoS optimization algorithm for efficient routing in vehicular networks</a:t>
            </a:r>
            <a:r>
              <a:rPr lang="en-IN" sz="1000" dirty="0"/>
              <a:t>. </a:t>
            </a:r>
            <a:r>
              <a:rPr lang="en-IN" sz="1000" b="1" dirty="0"/>
              <a:t>Computer Networks</a:t>
            </a:r>
            <a:r>
              <a:rPr lang="en-IN" sz="1000" dirty="0"/>
              <a:t>.</a:t>
            </a:r>
            <a:endParaRPr lang="en-US" sz="1000" dirty="0"/>
          </a:p>
        </p:txBody>
      </p:sp>
      <p:sp>
        <p:nvSpPr>
          <p:cNvPr id="16" name="Shape 14"/>
          <p:cNvSpPr/>
          <p:nvPr/>
        </p:nvSpPr>
        <p:spPr>
          <a:xfrm>
            <a:off x="274320" y="3163824"/>
            <a:ext cx="292608" cy="292608"/>
          </a:xfrm>
          <a:prstGeom prst="ellipse">
            <a:avLst/>
          </a:prstGeom>
          <a:solidFill>
            <a:srgbClr val="7A1538"/>
          </a:solidFill>
          <a:ln w="12700">
            <a:solidFill>
              <a:srgbClr val="7A1538"/>
            </a:solidFill>
            <a:prstDash val="solid"/>
          </a:ln>
        </p:spPr>
      </p:sp>
      <p:sp>
        <p:nvSpPr>
          <p:cNvPr id="17" name="Text 15"/>
          <p:cNvSpPr/>
          <p:nvPr/>
        </p:nvSpPr>
        <p:spPr>
          <a:xfrm>
            <a:off x="274320" y="3163824"/>
            <a:ext cx="35204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11</a:t>
            </a:r>
            <a:endParaRPr lang="en-US" sz="900" dirty="0"/>
          </a:p>
        </p:txBody>
      </p:sp>
      <p:sp>
        <p:nvSpPr>
          <p:cNvPr id="18" name="Text 16"/>
          <p:cNvSpPr/>
          <p:nvPr/>
        </p:nvSpPr>
        <p:spPr>
          <a:xfrm>
            <a:off x="685800" y="3108960"/>
            <a:ext cx="8229600" cy="502920"/>
          </a:xfrm>
          <a:prstGeom prst="rect">
            <a:avLst/>
          </a:prstGeom>
          <a:noFill/>
          <a:ln/>
        </p:spPr>
        <p:txBody>
          <a:bodyPr wrap="square" rtlCol="0" anchor="ctr"/>
          <a:lstStyle/>
          <a:p>
            <a:r>
              <a:rPr lang="en-US" sz="1000" dirty="0"/>
              <a:t>Radhika, G., &amp; Radhika, N. (2024). </a:t>
            </a:r>
            <a:r>
              <a:rPr lang="en-US" sz="1000" i="1" dirty="0"/>
              <a:t>Cooperative self-scheduling routing approach based on energy efficient optimal link stability routing allocation</a:t>
            </a:r>
            <a:r>
              <a:rPr lang="en-US" sz="1000" dirty="0"/>
              <a:t>. In </a:t>
            </a:r>
            <a:r>
              <a:rPr lang="en-US" sz="1000" b="1" dirty="0"/>
              <a:t>Proceedings of the 2024 ASET Conference</a:t>
            </a:r>
            <a:r>
              <a:rPr lang="en-US" sz="1000" dirty="0"/>
              <a:t>.</a:t>
            </a:r>
          </a:p>
        </p:txBody>
      </p:sp>
      <p:sp>
        <p:nvSpPr>
          <p:cNvPr id="19" name="Shape 17"/>
          <p:cNvSpPr/>
          <p:nvPr/>
        </p:nvSpPr>
        <p:spPr>
          <a:xfrm>
            <a:off x="274320" y="3718794"/>
            <a:ext cx="292608" cy="292608"/>
          </a:xfrm>
          <a:prstGeom prst="ellipse">
            <a:avLst/>
          </a:prstGeom>
          <a:solidFill>
            <a:srgbClr val="7A1538"/>
          </a:solidFill>
          <a:ln w="12700">
            <a:solidFill>
              <a:srgbClr val="7A1538"/>
            </a:solidFill>
            <a:prstDash val="solid"/>
          </a:ln>
        </p:spPr>
        <p:txBody>
          <a:bodyPr/>
          <a:lstStyle/>
          <a:p>
            <a:endParaRPr lang="en-IN" dirty="0"/>
          </a:p>
        </p:txBody>
      </p:sp>
      <p:sp>
        <p:nvSpPr>
          <p:cNvPr id="20" name="Text 18"/>
          <p:cNvSpPr/>
          <p:nvPr/>
        </p:nvSpPr>
        <p:spPr>
          <a:xfrm>
            <a:off x="214884" y="3730752"/>
            <a:ext cx="411480"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12</a:t>
            </a:r>
            <a:endParaRPr lang="en-US" sz="900" dirty="0"/>
          </a:p>
        </p:txBody>
      </p:sp>
      <p:sp>
        <p:nvSpPr>
          <p:cNvPr id="21" name="Text 19"/>
          <p:cNvSpPr/>
          <p:nvPr/>
        </p:nvSpPr>
        <p:spPr>
          <a:xfrm>
            <a:off x="685800" y="3675888"/>
            <a:ext cx="8229600" cy="502920"/>
          </a:xfrm>
          <a:prstGeom prst="rect">
            <a:avLst/>
          </a:prstGeom>
          <a:noFill/>
          <a:ln/>
        </p:spPr>
        <p:txBody>
          <a:bodyPr wrap="square" rtlCol="0" anchor="ctr"/>
          <a:lstStyle/>
          <a:p>
            <a:r>
              <a:rPr lang="en-US" sz="1000" dirty="0"/>
              <a:t>Rajeswari, A., &amp; Suganthi, K. (2024). </a:t>
            </a:r>
            <a:r>
              <a:rPr lang="en-US" sz="1000" i="1" dirty="0"/>
              <a:t>Reliable and stable routing in VANET using K-means with heuristic algorithm</a:t>
            </a:r>
            <a:r>
              <a:rPr lang="en-US" sz="1000" dirty="0"/>
              <a:t>. In </a:t>
            </a:r>
            <a:r>
              <a:rPr lang="en-US" sz="1000" b="1" dirty="0"/>
              <a:t>Proceedings of the IEEE International Conference on Communications (ICC)</a:t>
            </a:r>
            <a:r>
              <a:rPr lang="en-US" sz="1000" dirty="0"/>
              <a:t>.</a:t>
            </a:r>
          </a:p>
        </p:txBody>
      </p:sp>
      <p:sp>
        <p:nvSpPr>
          <p:cNvPr id="25" name="Shape 23"/>
          <p:cNvSpPr/>
          <p:nvPr/>
        </p:nvSpPr>
        <p:spPr>
          <a:xfrm>
            <a:off x="0" y="4937760"/>
            <a:ext cx="9144000" cy="201168"/>
          </a:xfrm>
          <a:prstGeom prst="rect">
            <a:avLst/>
          </a:prstGeom>
          <a:solidFill>
            <a:srgbClr val="7A1538"/>
          </a:solidFill>
          <a:ln w="12700">
            <a:solidFill>
              <a:srgbClr val="7A1538"/>
            </a:solidFill>
            <a:prstDash val="solid"/>
          </a:ln>
        </p:spPr>
      </p:sp>
      <p:sp>
        <p:nvSpPr>
          <p:cNvPr id="26" name="Text 24"/>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17 / 22</a:t>
            </a:r>
            <a:endParaRPr lang="en-US" sz="900" dirty="0"/>
          </a:p>
        </p:txBody>
      </p:sp>
      <p:sp>
        <p:nvSpPr>
          <p:cNvPr id="27" name="Text 25"/>
          <p:cNvSpPr/>
          <p:nvPr/>
        </p:nvSpPr>
        <p:spPr>
          <a:xfrm>
            <a:off x="685800" y="897870"/>
            <a:ext cx="8229600" cy="457200"/>
          </a:xfrm>
          <a:prstGeom prst="rect">
            <a:avLst/>
          </a:prstGeom>
          <a:noFill/>
          <a:ln/>
        </p:spPr>
        <p:txBody>
          <a:bodyPr wrap="square" rtlCol="0" anchor="ctr"/>
          <a:lstStyle/>
          <a:p>
            <a:r>
              <a:rPr lang="en-US" sz="1000" dirty="0"/>
              <a:t>Shah, S. S., et al. (2019). </a:t>
            </a:r>
            <a:r>
              <a:rPr lang="en-US" sz="1000" i="1" dirty="0"/>
              <a:t>Time barrier-based emergency message dissemination in vehicular ad hoc networks.</a:t>
            </a:r>
            <a:r>
              <a:rPr lang="en-US" sz="1000" dirty="0"/>
              <a:t> IEEE Access, 7, 16494–16503.</a:t>
            </a:r>
          </a:p>
        </p:txBody>
      </p:sp>
      <p:sp>
        <p:nvSpPr>
          <p:cNvPr id="28" name="Text 22"/>
          <p:cNvSpPr/>
          <p:nvPr/>
        </p:nvSpPr>
        <p:spPr>
          <a:xfrm>
            <a:off x="731520" y="1406066"/>
            <a:ext cx="8229600" cy="457200"/>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Xi, D., Zhang, H., Cao, Y., Yuan, D. "An RSUs-Assisted Hybrid Emergency Messages Broadcasting Protocol for VANETs." IEEE Internet of Things Journal, vol. 10, 2023, pp. 17479–17489.</a:t>
            </a:r>
            <a:endParaRPr lang="en-US" sz="1000" dirty="0"/>
          </a:p>
        </p:txBody>
      </p:sp>
      <p:sp>
        <p:nvSpPr>
          <p:cNvPr id="29" name="Shape 17"/>
          <p:cNvSpPr/>
          <p:nvPr/>
        </p:nvSpPr>
        <p:spPr>
          <a:xfrm>
            <a:off x="274320" y="1062462"/>
            <a:ext cx="292608" cy="292608"/>
          </a:xfrm>
          <a:prstGeom prst="ellipse">
            <a:avLst/>
          </a:prstGeom>
          <a:solidFill>
            <a:srgbClr val="7A1538"/>
          </a:solidFill>
          <a:ln w="12700">
            <a:solidFill>
              <a:srgbClr val="7A1538"/>
            </a:solidFill>
            <a:prstDash val="solid"/>
          </a:ln>
        </p:spPr>
        <p:txBody>
          <a:bodyPr/>
          <a:lstStyle/>
          <a:p>
            <a:endParaRPr lang="en-IN" dirty="0"/>
          </a:p>
        </p:txBody>
      </p:sp>
      <p:sp>
        <p:nvSpPr>
          <p:cNvPr id="30" name="Text 9">
            <a:extLst>
              <a:ext uri="{FF2B5EF4-FFF2-40B4-BE49-F238E27FC236}">
                <a16:creationId xmlns:a16="http://schemas.microsoft.com/office/drawing/2014/main" id="{2A3D8466-B3F2-CF69-D569-67BAF987808A}"/>
              </a:ext>
            </a:extLst>
          </p:cNvPr>
          <p:cNvSpPr/>
          <p:nvPr/>
        </p:nvSpPr>
        <p:spPr>
          <a:xfrm>
            <a:off x="280416" y="1058946"/>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1" name="Text 9">
            <a:extLst>
              <a:ext uri="{FF2B5EF4-FFF2-40B4-BE49-F238E27FC236}">
                <a16:creationId xmlns:a16="http://schemas.microsoft.com/office/drawing/2014/main" id="{B3ACCEC5-294C-5B2A-2114-117488359433}"/>
              </a:ext>
            </a:extLst>
          </p:cNvPr>
          <p:cNvSpPr/>
          <p:nvPr/>
        </p:nvSpPr>
        <p:spPr>
          <a:xfrm>
            <a:off x="263535" y="1479570"/>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2" name="Shape 8">
            <a:extLst>
              <a:ext uri="{FF2B5EF4-FFF2-40B4-BE49-F238E27FC236}">
                <a16:creationId xmlns:a16="http://schemas.microsoft.com/office/drawing/2014/main" id="{9758F7DB-AF26-3AAF-1BB2-E7D8F4DA959F}"/>
              </a:ext>
            </a:extLst>
          </p:cNvPr>
          <p:cNvSpPr/>
          <p:nvPr/>
        </p:nvSpPr>
        <p:spPr>
          <a:xfrm>
            <a:off x="280416" y="1465854"/>
            <a:ext cx="292608" cy="292608"/>
          </a:xfrm>
          <a:prstGeom prst="ellipse">
            <a:avLst/>
          </a:prstGeom>
          <a:solidFill>
            <a:srgbClr val="7A1538"/>
          </a:solidFill>
          <a:ln w="12700">
            <a:solidFill>
              <a:srgbClr val="7A1538"/>
            </a:solidFill>
            <a:prstDash val="solid"/>
          </a:ln>
        </p:spPr>
        <p:txBody>
          <a:bodyPr/>
          <a:lstStyle/>
          <a:p>
            <a:endParaRPr lang="en-IN" dirty="0"/>
          </a:p>
        </p:txBody>
      </p:sp>
      <p:sp>
        <p:nvSpPr>
          <p:cNvPr id="35" name="Text 9">
            <a:extLst>
              <a:ext uri="{FF2B5EF4-FFF2-40B4-BE49-F238E27FC236}">
                <a16:creationId xmlns:a16="http://schemas.microsoft.com/office/drawing/2014/main" id="{D6E65ADC-7B62-9A8C-D0A2-2AA859B8C44A}"/>
              </a:ext>
            </a:extLst>
          </p:cNvPr>
          <p:cNvSpPr/>
          <p:nvPr/>
        </p:nvSpPr>
        <p:spPr>
          <a:xfrm>
            <a:off x="280416" y="1479570"/>
            <a:ext cx="29260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7A1538"/>
        </a:solidFill>
        <a:effectLst/>
      </p:bgPr>
    </p:bg>
    <p:spTree>
      <p:nvGrpSpPr>
        <p:cNvPr id="1" name=""/>
        <p:cNvGrpSpPr/>
        <p:nvPr/>
      </p:nvGrpSpPr>
      <p:grpSpPr>
        <a:xfrm>
          <a:off x="0" y="0"/>
          <a:ext cx="0" cy="0"/>
          <a:chOff x="0" y="0"/>
          <a:chExt cx="0" cy="0"/>
        </a:xfrm>
      </p:grpSpPr>
      <p:sp>
        <p:nvSpPr>
          <p:cNvPr id="2" name="Text 0"/>
          <p:cNvSpPr/>
          <p:nvPr/>
        </p:nvSpPr>
        <p:spPr>
          <a:xfrm>
            <a:off x="0" y="1645920"/>
            <a:ext cx="9144000" cy="137160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3" name="Shape 1"/>
          <p:cNvSpPr/>
          <p:nvPr/>
        </p:nvSpPr>
        <p:spPr>
          <a:xfrm>
            <a:off x="2286000" y="3017520"/>
            <a:ext cx="4572000" cy="0"/>
          </a:xfrm>
          <a:prstGeom prst="line">
            <a:avLst/>
          </a:prstGeom>
          <a:noFill/>
          <a:ln w="25400">
            <a:solidFill>
              <a:srgbClr val="FFFFFF"/>
            </a:solidFill>
            <a:prstDash val="solid"/>
          </a:ln>
        </p:spPr>
      </p:sp>
      <p:sp>
        <p:nvSpPr>
          <p:cNvPr id="4" name="Text 2"/>
          <p:cNvSpPr/>
          <p:nvPr/>
        </p:nvSpPr>
        <p:spPr>
          <a:xfrm>
            <a:off x="0" y="3246120"/>
            <a:ext cx="9144000" cy="41148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Team Number: 83  </a:t>
            </a:r>
            <a:endParaRPr lang="en-US" sz="1400" dirty="0"/>
          </a:p>
        </p:txBody>
      </p:sp>
      <p:sp>
        <p:nvSpPr>
          <p:cNvPr id="5" name="Shape 3"/>
          <p:cNvSpPr/>
          <p:nvPr/>
        </p:nvSpPr>
        <p:spPr>
          <a:xfrm>
            <a:off x="0" y="4937760"/>
            <a:ext cx="9144000" cy="201168"/>
          </a:xfrm>
          <a:prstGeom prst="rect">
            <a:avLst/>
          </a:prstGeom>
          <a:solidFill>
            <a:srgbClr val="5A0F28"/>
          </a:solidFill>
          <a:ln w="12700">
            <a:solidFill>
              <a:srgbClr val="5A0F28"/>
            </a:solidFill>
            <a:prstDash val="solid"/>
          </a:ln>
        </p:spPr>
      </p:sp>
      <p:sp>
        <p:nvSpPr>
          <p:cNvPr id="6" name="Text 4"/>
          <p:cNvSpPr/>
          <p:nvPr/>
        </p:nvSpPr>
        <p:spPr>
          <a:xfrm>
            <a:off x="7589520" y="4937760"/>
            <a:ext cx="14630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18 /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2827</Words>
  <Application>Microsoft Office PowerPoint</Application>
  <PresentationFormat>On-screen Show (16:9)</PresentationFormat>
  <Paragraphs>364</Paragraphs>
  <Slides>21</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Akhil Rudrapaka</dc:creator>
  <cp:lastModifiedBy>Akhil Rudrapaka</cp:lastModifiedBy>
  <cp:revision>14</cp:revision>
  <dcterms:created xsi:type="dcterms:W3CDTF">2026-03-25T07:54:08Z</dcterms:created>
  <dcterms:modified xsi:type="dcterms:W3CDTF">2026-03-25T18:59:49Z</dcterms:modified>
</cp:coreProperties>
</file>